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8288000" cy="10287000" type="custom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 name="特征门控 Attention–LSTM 空中碰撞风险预测模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特征门控 Attention–LSTM 空中碰撞风险预测模型"/>
          <p:cNvSpPr/>
          <p:nvPr/>
        </p:nvSpPr>
        <p:spPr>
          <a:xfrm>
            <a:off x="502920" y="292608"/>
            <a:ext cx="17282160" cy="49377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5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特征门控 Attention–LSTM 空中碰撞风险预测模型</a:t>
            </a:r>
            <a:endParaRPr lang="zh-CN" sz="2500"/>
          </a:p>
        </p:txBody>
      </p:sp>
      <p:sp>
        <p:nvSpPr>
          <p:cNvPr id="3" name="12维标准化飞行状态 → 动态特征加权 → 两层时序编码 → 未来1 s障碍物碰"/>
          <p:cNvSpPr/>
          <p:nvPr/>
        </p:nvSpPr>
        <p:spPr>
          <a:xfrm>
            <a:off x="502920" y="868680"/>
            <a:ext cx="17282160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12维标准化飞行状态 → 动态特征加权 → 两层时序编码 → 未来1 s障碍物碰撞风险</a:t>
            </a:r>
            <a:endParaRPr lang="zh-CN" sz="1300"/>
          </a:p>
        </p:txBody>
      </p:sp>
      <p:cxnSp>
        <p:nvCxnSpPr>
          <p:cNvPr id="4" name="连接线 4"/>
          <p:cNvCxnSpPr/>
          <p:nvPr/>
        </p:nvCxnSpPr>
        <p:spPr>
          <a:xfrm>
            <a:off x="502920" y="1307592"/>
            <a:ext cx="1728216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" name="形状 5"/>
          <p:cNvSpPr/>
          <p:nvPr/>
        </p:nvSpPr>
        <p:spPr>
          <a:xfrm>
            <a:off x="502920" y="1527048"/>
            <a:ext cx="17282160" cy="3986784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" name="(a) 模型整体计算链路与双输出"/>
          <p:cNvSpPr/>
          <p:nvPr/>
        </p:nvSpPr>
        <p:spPr>
          <a:xfrm>
            <a:off x="667512" y="1618488"/>
            <a:ext cx="1695297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(a) 模型整体计算链路与双输出</a:t>
            </a:r>
            <a:endParaRPr lang="zh-CN" sz="1600"/>
          </a:p>
        </p:txBody>
      </p:sp>
      <p:cxnSp>
        <p:nvCxnSpPr>
          <p:cNvPr id="7" name="连接线 7"/>
          <p:cNvCxnSpPr/>
          <p:nvPr/>
        </p:nvCxnSpPr>
        <p:spPr>
          <a:xfrm>
            <a:off x="667512" y="2011680"/>
            <a:ext cx="1695297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8" name="历史状态窗口"/>
          <p:cNvSpPr/>
          <p:nvPr/>
        </p:nvSpPr>
        <p:spPr>
          <a:xfrm>
            <a:off x="786384" y="2386584"/>
            <a:ext cx="2240280" cy="1124712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历史状态窗口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20步 × 12项特征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X̂ ∈ R²⁰ˣ¹²</a:t>
            </a:r>
            <a:endParaRPr lang="zh-CN" sz="1600"/>
          </a:p>
        </p:txBody>
      </p:sp>
      <p:sp>
        <p:nvSpPr>
          <p:cNvPr id="9" name="训练集参数 Z-score"/>
          <p:cNvSpPr/>
          <p:nvPr/>
        </p:nvSpPr>
        <p:spPr>
          <a:xfrm>
            <a:off x="777240" y="2020824"/>
            <a:ext cx="2267712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训练集参数 Z-score</a:t>
            </a:r>
            <a:endParaRPr lang="zh-CN" sz="1200"/>
          </a:p>
        </p:txBody>
      </p:sp>
      <p:cxnSp>
        <p:nvCxnSpPr>
          <p:cNvPr id="10" name="连接线 10"/>
          <p:cNvCxnSpPr/>
          <p:nvPr/>
        </p:nvCxnSpPr>
        <p:spPr>
          <a:xfrm>
            <a:off x="3026664" y="2944368"/>
            <a:ext cx="384048" cy="1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11" name="特征级Attention"/>
          <p:cNvSpPr/>
          <p:nvPr/>
        </p:nvSpPr>
        <p:spPr>
          <a:xfrm>
            <a:off x="3410712" y="2386584"/>
            <a:ext cx="2414016" cy="112471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特征级Attention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 → 16 → 12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 → Sigmoid</a:t>
            </a:r>
            <a:endParaRPr lang="zh-CN" sz="1600"/>
          </a:p>
        </p:txBody>
      </p:sp>
      <p:sp>
        <p:nvSpPr>
          <p:cNvPr id="12" name="xₖʷ = aₖ ⊙ x̂ₖ"/>
          <p:cNvSpPr/>
          <p:nvPr/>
        </p:nvSpPr>
        <p:spPr>
          <a:xfrm>
            <a:off x="3410712" y="3685032"/>
            <a:ext cx="2423160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xₖʷ = aₖ ⊙ x̂ₖ</a:t>
            </a:r>
            <a:endParaRPr lang="zh-CN" sz="1700"/>
          </a:p>
        </p:txBody>
      </p:sp>
      <p:cxnSp>
        <p:nvCxnSpPr>
          <p:cNvPr id="13" name="连接线 13"/>
          <p:cNvCxnSpPr/>
          <p:nvPr/>
        </p:nvCxnSpPr>
        <p:spPr>
          <a:xfrm>
            <a:off x="5824728" y="2944368"/>
            <a:ext cx="539496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14" name="两层LSTM编码器  ·  每层隐藏维度64"/>
          <p:cNvSpPr/>
          <p:nvPr/>
        </p:nvSpPr>
        <p:spPr>
          <a:xfrm>
            <a:off x="6492240" y="1929384"/>
            <a:ext cx="5833872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两层LSTM编码器  ·  每层隐藏维度64</a:t>
            </a:r>
            <a:endParaRPr lang="zh-CN" sz="1400"/>
          </a:p>
        </p:txBody>
      </p:sp>
      <p:sp>
        <p:nvSpPr>
          <p:cNvPr id="15" name="LSTM¹"/>
          <p:cNvSpPr/>
          <p:nvPr/>
        </p:nvSpPr>
        <p:spPr>
          <a:xfrm>
            <a:off x="6556248" y="3081528"/>
            <a:ext cx="1170432" cy="5212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</a:t>
            </a:r>
            <a:endParaRPr lang="zh-CN" sz="1200"/>
          </a:p>
        </p:txBody>
      </p:sp>
      <p:cxnSp>
        <p:nvCxnSpPr>
          <p:cNvPr id="16" name="连接线 16"/>
          <p:cNvCxnSpPr/>
          <p:nvPr/>
        </p:nvCxnSpPr>
        <p:spPr>
          <a:xfrm>
            <a:off x="7726680" y="3337560"/>
            <a:ext cx="46634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17" name="LSTM¹"/>
          <p:cNvSpPr/>
          <p:nvPr/>
        </p:nvSpPr>
        <p:spPr>
          <a:xfrm>
            <a:off x="8193024" y="3081528"/>
            <a:ext cx="1170432" cy="5212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</a:t>
            </a:r>
            <a:endParaRPr lang="zh-CN" sz="1200"/>
          </a:p>
        </p:txBody>
      </p:sp>
      <p:sp>
        <p:nvSpPr>
          <p:cNvPr id="18" name="LSTM¹"/>
          <p:cNvSpPr/>
          <p:nvPr/>
        </p:nvSpPr>
        <p:spPr>
          <a:xfrm>
            <a:off x="10469880" y="3081528"/>
            <a:ext cx="1170432" cy="5212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20</a:t>
            </a:r>
            <a:endParaRPr lang="zh-CN" sz="1200"/>
          </a:p>
        </p:txBody>
      </p:sp>
      <p:sp>
        <p:nvSpPr>
          <p:cNvPr id="19" name="⋯"/>
          <p:cNvSpPr/>
          <p:nvPr/>
        </p:nvSpPr>
        <p:spPr>
          <a:xfrm>
            <a:off x="9573768" y="3118104"/>
            <a:ext cx="594360" cy="38404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300"/>
          </a:p>
        </p:txBody>
      </p:sp>
      <p:cxnSp>
        <p:nvCxnSpPr>
          <p:cNvPr id="20" name="连接线 20"/>
          <p:cNvCxnSpPr/>
          <p:nvPr/>
        </p:nvCxnSpPr>
        <p:spPr>
          <a:xfrm>
            <a:off x="9363456" y="3337560"/>
            <a:ext cx="28346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21" name="连接线 21"/>
          <p:cNvCxnSpPr/>
          <p:nvPr/>
        </p:nvCxnSpPr>
        <p:spPr>
          <a:xfrm>
            <a:off x="10149840" y="3337560"/>
            <a:ext cx="320040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22" name="LSTM²"/>
          <p:cNvSpPr/>
          <p:nvPr/>
        </p:nvSpPr>
        <p:spPr>
          <a:xfrm>
            <a:off x="6556248" y="2286000"/>
            <a:ext cx="1170432" cy="5212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</a:t>
            </a:r>
            <a:endParaRPr lang="zh-CN" sz="1200"/>
          </a:p>
        </p:txBody>
      </p:sp>
      <p:cxnSp>
        <p:nvCxnSpPr>
          <p:cNvPr id="23" name="连接线 23"/>
          <p:cNvCxnSpPr/>
          <p:nvPr/>
        </p:nvCxnSpPr>
        <p:spPr>
          <a:xfrm>
            <a:off x="7726680" y="2542032"/>
            <a:ext cx="46634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24" name="LSTM²"/>
          <p:cNvSpPr/>
          <p:nvPr/>
        </p:nvSpPr>
        <p:spPr>
          <a:xfrm>
            <a:off x="8193024" y="2286000"/>
            <a:ext cx="1170432" cy="5212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</a:t>
            </a:r>
            <a:endParaRPr lang="zh-CN" sz="1200"/>
          </a:p>
        </p:txBody>
      </p:sp>
      <p:sp>
        <p:nvSpPr>
          <p:cNvPr id="25" name="LSTM²"/>
          <p:cNvSpPr/>
          <p:nvPr/>
        </p:nvSpPr>
        <p:spPr>
          <a:xfrm>
            <a:off x="10469880" y="2286000"/>
            <a:ext cx="1170432" cy="5212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20</a:t>
            </a:r>
            <a:endParaRPr lang="zh-CN" sz="1200"/>
          </a:p>
        </p:txBody>
      </p:sp>
      <p:sp>
        <p:nvSpPr>
          <p:cNvPr id="26" name="⋯"/>
          <p:cNvSpPr/>
          <p:nvPr/>
        </p:nvSpPr>
        <p:spPr>
          <a:xfrm>
            <a:off x="9573768" y="2322576"/>
            <a:ext cx="594360" cy="38404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300"/>
          </a:p>
        </p:txBody>
      </p:sp>
      <p:cxnSp>
        <p:nvCxnSpPr>
          <p:cNvPr id="27" name="连接线 27"/>
          <p:cNvCxnSpPr/>
          <p:nvPr/>
        </p:nvCxnSpPr>
        <p:spPr>
          <a:xfrm>
            <a:off x="9363456" y="2542032"/>
            <a:ext cx="28346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28" name="连接线 28"/>
          <p:cNvCxnSpPr/>
          <p:nvPr/>
        </p:nvCxnSpPr>
        <p:spPr>
          <a:xfrm>
            <a:off x="10149840" y="2542032"/>
            <a:ext cx="320040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29" name="连接线 29"/>
          <p:cNvCxnSpPr/>
          <p:nvPr/>
        </p:nvCxnSpPr>
        <p:spPr>
          <a:xfrm>
            <a:off x="6364224" y="2944368"/>
            <a:ext cx="1" cy="40233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30" name="连接线 30"/>
          <p:cNvCxnSpPr/>
          <p:nvPr/>
        </p:nvCxnSpPr>
        <p:spPr>
          <a:xfrm>
            <a:off x="6364224" y="3346704"/>
            <a:ext cx="192024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31" name="连接线 31"/>
          <p:cNvCxnSpPr/>
          <p:nvPr/>
        </p:nvCxnSpPr>
        <p:spPr>
          <a:xfrm flipV="1">
            <a:off x="7141464" y="2807208"/>
            <a:ext cx="1" cy="27432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32" name="连接线 32"/>
          <p:cNvCxnSpPr/>
          <p:nvPr/>
        </p:nvCxnSpPr>
        <p:spPr>
          <a:xfrm flipV="1">
            <a:off x="8778240" y="2807208"/>
            <a:ext cx="1" cy="27432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33" name="连接线 33"/>
          <p:cNvCxnSpPr/>
          <p:nvPr/>
        </p:nvCxnSpPr>
        <p:spPr>
          <a:xfrm flipV="1">
            <a:off x="11055096" y="2807208"/>
            <a:ext cx="1" cy="27432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4" name="层间Dropout = 0.2（训练时）"/>
          <p:cNvSpPr/>
          <p:nvPr/>
        </p:nvSpPr>
        <p:spPr>
          <a:xfrm>
            <a:off x="6537960" y="3703320"/>
            <a:ext cx="5129784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层间Dropout = 0.2（训练时）</a:t>
            </a:r>
            <a:endParaRPr lang="zh-CN" sz="1200"/>
          </a:p>
        </p:txBody>
      </p:sp>
      <p:sp>
        <p:nvSpPr>
          <p:cNvPr id="35" name="r = h₂₀⁽²⁾"/>
          <p:cNvSpPr/>
          <p:nvPr/>
        </p:nvSpPr>
        <p:spPr>
          <a:xfrm>
            <a:off x="11859768" y="2295144"/>
            <a:ext cx="1170432" cy="512064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r = h₂₀⁽²⁾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64维</a:t>
            </a:r>
            <a:endParaRPr lang="zh-CN" sz="1200"/>
          </a:p>
        </p:txBody>
      </p:sp>
      <p:cxnSp>
        <p:nvCxnSpPr>
          <p:cNvPr id="36" name="连接线 36"/>
          <p:cNvCxnSpPr/>
          <p:nvPr/>
        </p:nvCxnSpPr>
        <p:spPr>
          <a:xfrm>
            <a:off x="11640312" y="2542032"/>
            <a:ext cx="21945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37" name="连接线 37"/>
          <p:cNvCxnSpPr/>
          <p:nvPr/>
        </p:nvCxnSpPr>
        <p:spPr>
          <a:xfrm>
            <a:off x="13030200" y="2542032"/>
            <a:ext cx="374904" cy="1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38" name="风险输出层"/>
          <p:cNvSpPr/>
          <p:nvPr/>
        </p:nvSpPr>
        <p:spPr>
          <a:xfrm>
            <a:off x="13405104" y="2221992"/>
            <a:ext cx="2048256" cy="1371600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风险输出层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64 → 32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ReLU → Dropout 0.3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32 → 1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1200"/>
          </a:p>
        </p:txBody>
      </p:sp>
      <p:cxnSp>
        <p:nvCxnSpPr>
          <p:cNvPr id="39" name="连接线 39"/>
          <p:cNvCxnSpPr/>
          <p:nvPr/>
        </p:nvCxnSpPr>
        <p:spPr>
          <a:xfrm>
            <a:off x="15453360" y="2907792"/>
            <a:ext cx="301752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40" name="碰撞风险 pₜ"/>
          <p:cNvSpPr/>
          <p:nvPr/>
        </p:nvSpPr>
        <p:spPr>
          <a:xfrm>
            <a:off x="15755112" y="2377440"/>
            <a:ext cx="1728216" cy="10241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碰撞风险 pₜ</a:t>
            </a:r>
            <a:endParaRPr lang="zh-CN" sz="1400"/>
          </a:p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未来1 s</a:t>
            </a:r>
            <a:endParaRPr lang="zh-CN" sz="1400"/>
          </a:p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0 ≤ pₜ ≤ 1</a:t>
            </a:r>
            <a:endParaRPr lang="zh-CN" sz="1400"/>
          </a:p>
        </p:txBody>
      </p:sp>
      <p:sp>
        <p:nvSpPr>
          <p:cNvPr id="41" name="解释输出：12项平均门控值  Aⱼ = (1/20) Σₖ₌₁²⁰ aₖ,ⱼ"/>
          <p:cNvSpPr/>
          <p:nvPr/>
        </p:nvSpPr>
        <p:spPr>
          <a:xfrm>
            <a:off x="3410712" y="4407408"/>
            <a:ext cx="4846320" cy="502920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解释输出：12项平均门控值  Aⱼ = (1/20) Σₖ₌₁²⁰ aₖ,ⱼ</a:t>
            </a:r>
            <a:endParaRPr lang="zh-CN" sz="1400"/>
          </a:p>
        </p:txBody>
      </p:sp>
      <p:cxnSp>
        <p:nvCxnSpPr>
          <p:cNvPr id="42" name="连接线 42"/>
          <p:cNvCxnSpPr/>
          <p:nvPr/>
        </p:nvCxnSpPr>
        <p:spPr>
          <a:xfrm>
            <a:off x="4617720" y="3511296"/>
            <a:ext cx="1" cy="896112"/>
          </a:xfrm>
          <a:prstGeom prst="line">
            <a:avLst/>
          </a:prstGeom>
          <a:ln w="15240">
            <a:solidFill>
              <a:srgbClr val="986344"/>
            </a:solidFill>
            <a:prstDash val="dash"/>
            <a:tailEnd type="triangle" w="sm" len="sm"/>
          </a:ln>
        </p:spPr>
      </p:cxnSp>
      <p:sp>
        <p:nvSpPr>
          <p:cNvPr id="43" name="输入：高度、三轴速度、合速度、横滚、俯仰、风速、风向sin/cos、障碍物距离、"/>
          <p:cNvSpPr/>
          <p:nvPr/>
        </p:nvSpPr>
        <p:spPr>
          <a:xfrm>
            <a:off x="777240" y="4956048"/>
            <a:ext cx="1645005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2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输入：高度、三轴速度、合速度、横滚、俯仰、风速、风向sin/cos、障碍物距离、检测标志</a:t>
            </a:r>
            <a:endParaRPr lang="zh-CN" sz="1200"/>
          </a:p>
        </p:txBody>
      </p:sp>
      <p:sp>
        <p:nvSpPr>
          <p:cNvPr id="44" name="形状 44"/>
          <p:cNvSpPr/>
          <p:nvPr/>
        </p:nvSpPr>
        <p:spPr>
          <a:xfrm>
            <a:off x="502920" y="5769864"/>
            <a:ext cx="6720840" cy="3621024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" name="(b) 特征级Attention：逐特征Sigmoid门控"/>
          <p:cNvSpPr/>
          <p:nvPr/>
        </p:nvSpPr>
        <p:spPr>
          <a:xfrm>
            <a:off x="667512" y="5861304"/>
            <a:ext cx="639165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(b) 特征级Attention：逐特征Sigmoid门控</a:t>
            </a:r>
            <a:endParaRPr lang="zh-CN" sz="1600"/>
          </a:p>
        </p:txBody>
      </p:sp>
      <p:cxnSp>
        <p:nvCxnSpPr>
          <p:cNvPr id="46" name="连接线 46"/>
          <p:cNvCxnSpPr/>
          <p:nvPr/>
        </p:nvCxnSpPr>
        <p:spPr>
          <a:xfrm>
            <a:off x="667512" y="6254496"/>
            <a:ext cx="639165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47" name="输入"/>
          <p:cNvSpPr/>
          <p:nvPr/>
        </p:nvSpPr>
        <p:spPr>
          <a:xfrm>
            <a:off x="777240" y="6684264"/>
            <a:ext cx="1002632" cy="694944"/>
          </a:xfrm>
          <a:prstGeom prst="rect">
            <a:avLst/>
          </a:prstGeom>
          <a:solidFill>
            <a:srgbClr val="F6F8FA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x̂ₖ ∈ R¹²</a:t>
            </a:r>
            <a:endParaRPr lang="zh-CN" sz="1100"/>
          </a:p>
        </p:txBody>
      </p:sp>
      <p:sp>
        <p:nvSpPr>
          <p:cNvPr id="48" name="Linear"/>
          <p:cNvSpPr/>
          <p:nvPr/>
        </p:nvSpPr>
        <p:spPr>
          <a:xfrm>
            <a:off x="1955332" y="6684264"/>
            <a:ext cx="1002632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 → 16</a:t>
            </a:r>
            <a:endParaRPr lang="zh-CN" sz="1100"/>
          </a:p>
        </p:txBody>
      </p:sp>
      <p:cxnSp>
        <p:nvCxnSpPr>
          <p:cNvPr id="49" name="连接线 49"/>
          <p:cNvCxnSpPr/>
          <p:nvPr/>
        </p:nvCxnSpPr>
        <p:spPr>
          <a:xfrm>
            <a:off x="1779872" y="7031736"/>
            <a:ext cx="175461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50" name="tanh"/>
          <p:cNvSpPr/>
          <p:nvPr/>
        </p:nvSpPr>
        <p:spPr>
          <a:xfrm>
            <a:off x="3133424" y="6684264"/>
            <a:ext cx="1002632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非线性变换</a:t>
            </a:r>
            <a:endParaRPr lang="zh-CN" sz="1100"/>
          </a:p>
        </p:txBody>
      </p:sp>
      <p:cxnSp>
        <p:nvCxnSpPr>
          <p:cNvPr id="51" name="连接线 51"/>
          <p:cNvCxnSpPr/>
          <p:nvPr/>
        </p:nvCxnSpPr>
        <p:spPr>
          <a:xfrm>
            <a:off x="2957964" y="7031736"/>
            <a:ext cx="175461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52" name="Linear"/>
          <p:cNvSpPr/>
          <p:nvPr/>
        </p:nvSpPr>
        <p:spPr>
          <a:xfrm>
            <a:off x="4311516" y="6684264"/>
            <a:ext cx="1002632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16 → 12</a:t>
            </a:r>
            <a:endParaRPr lang="zh-CN" sz="1100"/>
          </a:p>
        </p:txBody>
      </p:sp>
      <p:cxnSp>
        <p:nvCxnSpPr>
          <p:cNvPr id="53" name="连接线 53"/>
          <p:cNvCxnSpPr/>
          <p:nvPr/>
        </p:nvCxnSpPr>
        <p:spPr>
          <a:xfrm>
            <a:off x="4136056" y="7031736"/>
            <a:ext cx="175461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54" name="Sigmoid"/>
          <p:cNvSpPr/>
          <p:nvPr/>
        </p:nvSpPr>
        <p:spPr>
          <a:xfrm>
            <a:off x="5489608" y="6684264"/>
            <a:ext cx="1002632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aₖ ∈ (0,1)¹²</a:t>
            </a:r>
            <a:endParaRPr lang="zh-CN" sz="1100"/>
          </a:p>
        </p:txBody>
      </p:sp>
      <p:cxnSp>
        <p:nvCxnSpPr>
          <p:cNvPr id="55" name="连接线 55"/>
          <p:cNvCxnSpPr/>
          <p:nvPr/>
        </p:nvCxnSpPr>
        <p:spPr>
          <a:xfrm>
            <a:off x="5314148" y="7031736"/>
            <a:ext cx="175461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56" name="⊙"/>
          <p:cNvSpPr/>
          <p:nvPr/>
        </p:nvSpPr>
        <p:spPr>
          <a:xfrm>
            <a:off x="6432804" y="7539228"/>
            <a:ext cx="393192" cy="393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57" name="连接线 57"/>
          <p:cNvCxnSpPr/>
          <p:nvPr/>
        </p:nvCxnSpPr>
        <p:spPr>
          <a:xfrm>
            <a:off x="5990924" y="7379208"/>
            <a:ext cx="1" cy="35661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58" name="连接线 58"/>
          <p:cNvCxnSpPr/>
          <p:nvPr/>
        </p:nvCxnSpPr>
        <p:spPr>
          <a:xfrm>
            <a:off x="5990924" y="7735824"/>
            <a:ext cx="409876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59" name="连接线 59"/>
          <p:cNvCxnSpPr/>
          <p:nvPr/>
        </p:nvCxnSpPr>
        <p:spPr>
          <a:xfrm>
            <a:off x="1278556" y="7379208"/>
            <a:ext cx="1" cy="109728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60" name="连接线 60"/>
          <p:cNvCxnSpPr/>
          <p:nvPr/>
        </p:nvCxnSpPr>
        <p:spPr>
          <a:xfrm flipH="1">
            <a:off x="621792" y="7488936"/>
            <a:ext cx="656764" cy="1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61" name="连接线 61"/>
          <p:cNvCxnSpPr/>
          <p:nvPr/>
        </p:nvCxnSpPr>
        <p:spPr>
          <a:xfrm>
            <a:off x="621792" y="7488936"/>
            <a:ext cx="1" cy="768096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62" name="连接线 62"/>
          <p:cNvCxnSpPr/>
          <p:nvPr/>
        </p:nvCxnSpPr>
        <p:spPr>
          <a:xfrm>
            <a:off x="621792" y="8257032"/>
            <a:ext cx="6007608" cy="1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63" name="连接线 63"/>
          <p:cNvCxnSpPr/>
          <p:nvPr/>
        </p:nvCxnSpPr>
        <p:spPr>
          <a:xfrm flipV="1">
            <a:off x="6629400" y="7964424"/>
            <a:ext cx="1" cy="292608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64" name="标准化输入旁路 x̂ₖ"/>
          <p:cNvSpPr/>
          <p:nvPr/>
        </p:nvSpPr>
        <p:spPr>
          <a:xfrm>
            <a:off x="868680" y="7991856"/>
            <a:ext cx="3091586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标准化输入旁路 x̂ₖ</a:t>
            </a:r>
            <a:endParaRPr lang="zh-CN" sz="1000"/>
          </a:p>
        </p:txBody>
      </p:sp>
      <p:sp>
        <p:nvSpPr>
          <p:cNvPr id="65" name="aₖ = σ(W₂ tanh(W₁x̂ₖ + b₁) + b₂)"/>
          <p:cNvSpPr/>
          <p:nvPr/>
        </p:nvSpPr>
        <p:spPr>
          <a:xfrm>
            <a:off x="813816" y="7589520"/>
            <a:ext cx="5852160" cy="36576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aₖ = σ(W₂ tanh(W₁x̂ₖ + b₁) + b₂)</a:t>
            </a:r>
            <a:endParaRPr lang="zh-CN" sz="1200"/>
          </a:p>
        </p:txBody>
      </p:sp>
      <p:cxnSp>
        <p:nvCxnSpPr>
          <p:cNvPr id="66" name="连接线 66"/>
          <p:cNvCxnSpPr/>
          <p:nvPr/>
        </p:nvCxnSpPr>
        <p:spPr>
          <a:xfrm>
            <a:off x="6858000" y="7735824"/>
            <a:ext cx="246888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67" name="xₖʷ = aₖ ⊙ x̂ₖ"/>
          <p:cNvSpPr/>
          <p:nvPr/>
        </p:nvSpPr>
        <p:spPr>
          <a:xfrm>
            <a:off x="4846320" y="8339328"/>
            <a:ext cx="2103120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xₖʷ = aₖ ⊙ x̂ₖ</a:t>
            </a:r>
            <a:endParaRPr lang="zh-CN" sz="1300"/>
          </a:p>
        </p:txBody>
      </p:sp>
      <p:sp>
        <p:nvSpPr>
          <p:cNvPr id="68" name="Aⱼ = (1/20) Σₖ₌₁²⁰ aₖ,ⱼ"/>
          <p:cNvSpPr/>
          <p:nvPr/>
        </p:nvSpPr>
        <p:spPr>
          <a:xfrm>
            <a:off x="813816" y="8714232"/>
            <a:ext cx="3830879" cy="411480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Aⱼ = (1/20) Σₖ₌₁²⁰ aₖ,ⱼ</a:t>
            </a:r>
            <a:endParaRPr lang="zh-CN" sz="1300"/>
          </a:p>
        </p:txBody>
      </p:sp>
      <p:cxnSp>
        <p:nvCxnSpPr>
          <p:cNvPr id="69" name="连接线 69"/>
          <p:cNvCxnSpPr/>
          <p:nvPr/>
        </p:nvCxnSpPr>
        <p:spPr>
          <a:xfrm>
            <a:off x="6492240" y="7031736"/>
            <a:ext cx="585216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70" name="连接线 70"/>
          <p:cNvCxnSpPr/>
          <p:nvPr/>
        </p:nvCxnSpPr>
        <p:spPr>
          <a:xfrm>
            <a:off x="7077456" y="7031736"/>
            <a:ext cx="1" cy="1883664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71" name="连接线 71"/>
          <p:cNvCxnSpPr/>
          <p:nvPr/>
        </p:nvCxnSpPr>
        <p:spPr>
          <a:xfrm flipH="1">
            <a:off x="4644695" y="8915400"/>
            <a:ext cx="2432761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  <a:tailEnd type="triangle" w="sm" len="sm"/>
          </a:ln>
        </p:spPr>
      </p:cxnSp>
      <p:sp>
        <p:nvSpPr>
          <p:cNvPr id="72" name="20步时间平均 → 12项平均门控值"/>
          <p:cNvSpPr/>
          <p:nvPr/>
        </p:nvSpPr>
        <p:spPr>
          <a:xfrm>
            <a:off x="813816" y="8403336"/>
            <a:ext cx="6099048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100" b="0" i="0">
                <a:solidFill>
                  <a:srgbClr val="986344"/>
                </a:solidFill>
                <a:latin typeface="Times New Roman"/>
                <a:ea typeface="宋体"/>
                <a:cs typeface="Times New Roman"/>
              </a:rPr>
              <a:t>20步时间平均 → 12项平均门控值</a:t>
            </a:r>
            <a:endParaRPr lang="zh-CN" sz="1100"/>
          </a:p>
        </p:txBody>
      </p:sp>
      <p:sp>
        <p:nvSpPr>
          <p:cNvPr id="73" name="形状 73"/>
          <p:cNvSpPr/>
          <p:nvPr/>
        </p:nvSpPr>
        <p:spPr>
          <a:xfrm>
            <a:off x="7479792" y="5769864"/>
            <a:ext cx="10305288" cy="3621024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4" name="(c) LSTM单元：遗忘门、输入门、候选记忆与输出门"/>
          <p:cNvSpPr/>
          <p:nvPr/>
        </p:nvSpPr>
        <p:spPr>
          <a:xfrm>
            <a:off x="7644384" y="5861304"/>
            <a:ext cx="9976104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(c) LSTM单元：遗忘门、输入门、候选记忆与输出门</a:t>
            </a:r>
            <a:endParaRPr lang="zh-CN" sz="1600"/>
          </a:p>
        </p:txBody>
      </p:sp>
      <p:cxnSp>
        <p:nvCxnSpPr>
          <p:cNvPr id="75" name="连接线 75"/>
          <p:cNvCxnSpPr/>
          <p:nvPr/>
        </p:nvCxnSpPr>
        <p:spPr>
          <a:xfrm>
            <a:off x="7644384" y="6254496"/>
            <a:ext cx="9976104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76" name="cₖ₋₁"/>
          <p:cNvSpPr/>
          <p:nvPr/>
        </p:nvSpPr>
        <p:spPr>
          <a:xfrm>
            <a:off x="7754112" y="6464808"/>
            <a:ext cx="1648846" cy="36576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cₖ₋₁</a:t>
            </a:r>
            <a:endParaRPr lang="zh-CN" sz="1400"/>
          </a:p>
        </p:txBody>
      </p:sp>
      <p:cxnSp>
        <p:nvCxnSpPr>
          <p:cNvPr id="77" name="连接线 77"/>
          <p:cNvCxnSpPr/>
          <p:nvPr/>
        </p:nvCxnSpPr>
        <p:spPr>
          <a:xfrm>
            <a:off x="9093799" y="6684264"/>
            <a:ext cx="545897" cy="1"/>
          </a:xfrm>
          <a:prstGeom prst="line">
            <a:avLst/>
          </a:prstGeom>
          <a:ln w="21590">
            <a:solidFill>
              <a:srgbClr val="39766C"/>
            </a:solidFill>
            <a:tailEnd type="triangle" w="sm" len="sm"/>
          </a:ln>
        </p:spPr>
      </p:cxnSp>
      <p:sp>
        <p:nvSpPr>
          <p:cNvPr id="78" name="⊙"/>
          <p:cNvSpPr/>
          <p:nvPr/>
        </p:nvSpPr>
        <p:spPr>
          <a:xfrm>
            <a:off x="9667128" y="6501384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79" name="连接线 79"/>
          <p:cNvCxnSpPr/>
          <p:nvPr/>
        </p:nvCxnSpPr>
        <p:spPr>
          <a:xfrm>
            <a:off x="10060320" y="6684264"/>
            <a:ext cx="3289280" cy="1"/>
          </a:xfrm>
          <a:prstGeom prst="line">
            <a:avLst/>
          </a:prstGeom>
          <a:ln w="21590">
            <a:solidFill>
              <a:srgbClr val="39766C"/>
            </a:solidFill>
            <a:tailEnd type="triangle" w="sm" len="sm"/>
          </a:ln>
        </p:spPr>
      </p:cxnSp>
      <p:sp>
        <p:nvSpPr>
          <p:cNvPr id="80" name="+"/>
          <p:cNvSpPr/>
          <p:nvPr/>
        </p:nvSpPr>
        <p:spPr>
          <a:xfrm>
            <a:off x="13377032" y="6501384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+</a:t>
            </a:r>
            <a:endParaRPr lang="zh-CN" sz="1800"/>
          </a:p>
        </p:txBody>
      </p:sp>
      <p:cxnSp>
        <p:nvCxnSpPr>
          <p:cNvPr id="81" name="连接线 81"/>
          <p:cNvCxnSpPr/>
          <p:nvPr/>
        </p:nvCxnSpPr>
        <p:spPr>
          <a:xfrm>
            <a:off x="13770224" y="6684264"/>
            <a:ext cx="3082168" cy="1"/>
          </a:xfrm>
          <a:prstGeom prst="line">
            <a:avLst/>
          </a:prstGeom>
          <a:ln w="21590">
            <a:solidFill>
              <a:srgbClr val="39766C"/>
            </a:solidFill>
            <a:tailEnd type="triangle" w="sm" len="sm"/>
          </a:ln>
        </p:spPr>
      </p:cxnSp>
      <p:sp>
        <p:nvSpPr>
          <p:cNvPr id="82" name="cₖ"/>
          <p:cNvSpPr/>
          <p:nvPr/>
        </p:nvSpPr>
        <p:spPr>
          <a:xfrm>
            <a:off x="16943832" y="6464808"/>
            <a:ext cx="594360" cy="36576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</a:t>
            </a:r>
            <a:endParaRPr lang="zh-CN" sz="1400"/>
          </a:p>
        </p:txBody>
      </p:sp>
      <p:sp>
        <p:nvSpPr>
          <p:cNvPr id="83" name="Wf uₖ + bf"/>
          <p:cNvSpPr/>
          <p:nvPr/>
        </p:nvSpPr>
        <p:spPr>
          <a:xfrm>
            <a:off x="9283217" y="7616952"/>
            <a:ext cx="1133582" cy="53035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Wf uₖ + bf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σ</a:t>
            </a:r>
            <a:endParaRPr lang="zh-CN" sz="1100"/>
          </a:p>
        </p:txBody>
      </p:sp>
      <p:sp>
        <p:nvSpPr>
          <p:cNvPr id="84" name="遗忘门 fₖ"/>
          <p:cNvSpPr/>
          <p:nvPr/>
        </p:nvSpPr>
        <p:spPr>
          <a:xfrm>
            <a:off x="8886464" y="8220456"/>
            <a:ext cx="1927089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遗忘门 fₖ</a:t>
            </a:r>
            <a:endParaRPr lang="zh-CN" sz="1000"/>
          </a:p>
        </p:txBody>
      </p:sp>
      <p:cxnSp>
        <p:nvCxnSpPr>
          <p:cNvPr id="85" name="连接线 85"/>
          <p:cNvCxnSpPr/>
          <p:nvPr/>
        </p:nvCxnSpPr>
        <p:spPr>
          <a:xfrm flipV="1">
            <a:off x="9850008" y="8147304"/>
            <a:ext cx="1" cy="768096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sp>
        <p:nvSpPr>
          <p:cNvPr id="86" name="Wi uₖ + bi"/>
          <p:cNvSpPr/>
          <p:nvPr/>
        </p:nvSpPr>
        <p:spPr>
          <a:xfrm>
            <a:off x="11035116" y="7616952"/>
            <a:ext cx="1133582" cy="53035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Wi uₖ + bi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σ</a:t>
            </a:r>
            <a:endParaRPr lang="zh-CN" sz="1100"/>
          </a:p>
        </p:txBody>
      </p:sp>
      <p:sp>
        <p:nvSpPr>
          <p:cNvPr id="87" name="输入门 iₖ"/>
          <p:cNvSpPr/>
          <p:nvPr/>
        </p:nvSpPr>
        <p:spPr>
          <a:xfrm>
            <a:off x="10638363" y="8220456"/>
            <a:ext cx="1927089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输入门 iₖ</a:t>
            </a:r>
            <a:endParaRPr lang="zh-CN" sz="1000"/>
          </a:p>
        </p:txBody>
      </p:sp>
      <p:cxnSp>
        <p:nvCxnSpPr>
          <p:cNvPr id="88" name="连接线 88"/>
          <p:cNvCxnSpPr/>
          <p:nvPr/>
        </p:nvCxnSpPr>
        <p:spPr>
          <a:xfrm flipV="1">
            <a:off x="11601907" y="8147304"/>
            <a:ext cx="1" cy="768096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sp>
        <p:nvSpPr>
          <p:cNvPr id="89" name="Wg uₖ + bg"/>
          <p:cNvSpPr/>
          <p:nvPr/>
        </p:nvSpPr>
        <p:spPr>
          <a:xfrm>
            <a:off x="12683962" y="7616952"/>
            <a:ext cx="1133582" cy="53035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Wg uₖ + bg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tanh</a:t>
            </a:r>
            <a:endParaRPr lang="zh-CN" sz="1100"/>
          </a:p>
        </p:txBody>
      </p:sp>
      <p:sp>
        <p:nvSpPr>
          <p:cNvPr id="90" name="候选记忆 gₖ"/>
          <p:cNvSpPr/>
          <p:nvPr/>
        </p:nvSpPr>
        <p:spPr>
          <a:xfrm>
            <a:off x="12287209" y="8220456"/>
            <a:ext cx="1927089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候选记忆 gₖ</a:t>
            </a:r>
            <a:endParaRPr lang="zh-CN" sz="1000"/>
          </a:p>
        </p:txBody>
      </p:sp>
      <p:cxnSp>
        <p:nvCxnSpPr>
          <p:cNvPr id="91" name="连接线 91"/>
          <p:cNvCxnSpPr/>
          <p:nvPr/>
        </p:nvCxnSpPr>
        <p:spPr>
          <a:xfrm flipV="1">
            <a:off x="13250753" y="8147304"/>
            <a:ext cx="1" cy="768096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sp>
        <p:nvSpPr>
          <p:cNvPr id="92" name="Wo uₖ + bo"/>
          <p:cNvSpPr/>
          <p:nvPr/>
        </p:nvSpPr>
        <p:spPr>
          <a:xfrm>
            <a:off x="14848073" y="7616952"/>
            <a:ext cx="1133582" cy="53035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Wo uₖ + bo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σ</a:t>
            </a:r>
            <a:endParaRPr lang="zh-CN" sz="1100"/>
          </a:p>
        </p:txBody>
      </p:sp>
      <p:sp>
        <p:nvSpPr>
          <p:cNvPr id="93" name="输出门 oₖ"/>
          <p:cNvSpPr/>
          <p:nvPr/>
        </p:nvSpPr>
        <p:spPr>
          <a:xfrm>
            <a:off x="14451319" y="8220456"/>
            <a:ext cx="1927089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输出门 oₖ</a:t>
            </a:r>
            <a:endParaRPr lang="zh-CN" sz="1000"/>
          </a:p>
        </p:txBody>
      </p:sp>
      <p:cxnSp>
        <p:nvCxnSpPr>
          <p:cNvPr id="94" name="连接线 94"/>
          <p:cNvCxnSpPr/>
          <p:nvPr/>
        </p:nvCxnSpPr>
        <p:spPr>
          <a:xfrm flipV="1">
            <a:off x="15414864" y="8147304"/>
            <a:ext cx="1" cy="768096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cxnSp>
        <p:nvCxnSpPr>
          <p:cNvPr id="95" name="连接线 95"/>
          <p:cNvCxnSpPr/>
          <p:nvPr/>
        </p:nvCxnSpPr>
        <p:spPr>
          <a:xfrm flipV="1">
            <a:off x="9850008" y="6894576"/>
            <a:ext cx="1" cy="722376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96" name="⊙"/>
          <p:cNvSpPr/>
          <p:nvPr/>
        </p:nvSpPr>
        <p:spPr>
          <a:xfrm>
            <a:off x="12243450" y="6986016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97" name="连接线 97"/>
          <p:cNvCxnSpPr/>
          <p:nvPr/>
        </p:nvCxnSpPr>
        <p:spPr>
          <a:xfrm flipV="1">
            <a:off x="11601907" y="7168896"/>
            <a:ext cx="1" cy="44805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98" name="连接线 98"/>
          <p:cNvCxnSpPr/>
          <p:nvPr/>
        </p:nvCxnSpPr>
        <p:spPr>
          <a:xfrm>
            <a:off x="11601907" y="7168896"/>
            <a:ext cx="614111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99" name="连接线 99"/>
          <p:cNvCxnSpPr/>
          <p:nvPr/>
        </p:nvCxnSpPr>
        <p:spPr>
          <a:xfrm flipV="1">
            <a:off x="13250753" y="7168896"/>
            <a:ext cx="1" cy="448056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100" name="连接线 100"/>
          <p:cNvCxnSpPr/>
          <p:nvPr/>
        </p:nvCxnSpPr>
        <p:spPr>
          <a:xfrm flipH="1">
            <a:off x="12636642" y="7168896"/>
            <a:ext cx="614111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101" name="连接线 101"/>
          <p:cNvCxnSpPr/>
          <p:nvPr/>
        </p:nvCxnSpPr>
        <p:spPr>
          <a:xfrm>
            <a:off x="12426330" y="6958584"/>
            <a:ext cx="1" cy="109728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102" name="连接线 102"/>
          <p:cNvCxnSpPr/>
          <p:nvPr/>
        </p:nvCxnSpPr>
        <p:spPr>
          <a:xfrm>
            <a:off x="12426330" y="7068312"/>
            <a:ext cx="1133582" cy="1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103" name="连接线 103"/>
          <p:cNvCxnSpPr/>
          <p:nvPr/>
        </p:nvCxnSpPr>
        <p:spPr>
          <a:xfrm flipV="1">
            <a:off x="13559912" y="6894576"/>
            <a:ext cx="1" cy="173736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104" name="tanh"/>
          <p:cNvSpPr/>
          <p:nvPr/>
        </p:nvSpPr>
        <p:spPr>
          <a:xfrm>
            <a:off x="14588703" y="6912864"/>
            <a:ext cx="621792" cy="39319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tanh</a:t>
            </a:r>
            <a:endParaRPr lang="zh-CN" sz="1300"/>
          </a:p>
        </p:txBody>
      </p:sp>
      <p:cxnSp>
        <p:nvCxnSpPr>
          <p:cNvPr id="105" name="连接线 105"/>
          <p:cNvCxnSpPr/>
          <p:nvPr/>
        </p:nvCxnSpPr>
        <p:spPr>
          <a:xfrm>
            <a:off x="14899599" y="6684264"/>
            <a:ext cx="1" cy="22860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106" name="⊙"/>
          <p:cNvSpPr/>
          <p:nvPr/>
        </p:nvSpPr>
        <p:spPr>
          <a:xfrm>
            <a:off x="16262513" y="7104888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107" name="连接线 107"/>
          <p:cNvCxnSpPr/>
          <p:nvPr/>
        </p:nvCxnSpPr>
        <p:spPr>
          <a:xfrm flipV="1">
            <a:off x="14899599" y="7287768"/>
            <a:ext cx="1" cy="18288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108" name="连接线 108"/>
          <p:cNvCxnSpPr/>
          <p:nvPr/>
        </p:nvCxnSpPr>
        <p:spPr>
          <a:xfrm>
            <a:off x="14899599" y="7287768"/>
            <a:ext cx="1335481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109" name="连接线 109"/>
          <p:cNvCxnSpPr/>
          <p:nvPr/>
        </p:nvCxnSpPr>
        <p:spPr>
          <a:xfrm>
            <a:off x="15414864" y="7616952"/>
            <a:ext cx="1" cy="1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110" name="连接线 110"/>
          <p:cNvCxnSpPr/>
          <p:nvPr/>
        </p:nvCxnSpPr>
        <p:spPr>
          <a:xfrm>
            <a:off x="15414864" y="7616952"/>
            <a:ext cx="1030529" cy="1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111" name="连接线 111"/>
          <p:cNvCxnSpPr/>
          <p:nvPr/>
        </p:nvCxnSpPr>
        <p:spPr>
          <a:xfrm flipV="1">
            <a:off x="16445393" y="7498080"/>
            <a:ext cx="1" cy="118872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112" name="连接线 112"/>
          <p:cNvCxnSpPr/>
          <p:nvPr/>
        </p:nvCxnSpPr>
        <p:spPr>
          <a:xfrm>
            <a:off x="16655705" y="7287768"/>
            <a:ext cx="269839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113" name="hₖ"/>
          <p:cNvSpPr/>
          <p:nvPr/>
        </p:nvSpPr>
        <p:spPr>
          <a:xfrm>
            <a:off x="17016984" y="7114032"/>
            <a:ext cx="521208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</a:t>
            </a:r>
            <a:endParaRPr lang="zh-CN" sz="1400"/>
          </a:p>
        </p:txBody>
      </p:sp>
      <p:cxnSp>
        <p:nvCxnSpPr>
          <p:cNvPr id="114" name="连接线 114"/>
          <p:cNvCxnSpPr/>
          <p:nvPr/>
        </p:nvCxnSpPr>
        <p:spPr>
          <a:xfrm>
            <a:off x="8622792" y="8915400"/>
            <a:ext cx="6792072" cy="1"/>
          </a:xfrm>
          <a:prstGeom prst="line">
            <a:avLst/>
          </a:prstGeom>
          <a:ln w="12700">
            <a:solidFill>
              <a:srgbClr val="667785"/>
            </a:solidFill>
          </a:ln>
        </p:spPr>
      </p:cxnSp>
      <p:sp>
        <p:nvSpPr>
          <p:cNvPr id="115" name="uₖ = [hₖ₋₁ ; ξₖ]"/>
          <p:cNvSpPr/>
          <p:nvPr/>
        </p:nvSpPr>
        <p:spPr>
          <a:xfrm>
            <a:off x="7754112" y="8577072"/>
            <a:ext cx="3400745" cy="32918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uₖ = [hₖ₋₁ ; ξₖ]</a:t>
            </a:r>
            <a:endParaRPr lang="zh-CN" sz="1200"/>
          </a:p>
        </p:txBody>
      </p:sp>
      <p:sp>
        <p:nvSpPr>
          <p:cNvPr id="116" name="⊙：逐元素相乘；特征门控与LSTM内部门控为不同部件。平均门控值表示特征保留程度"/>
          <p:cNvSpPr/>
          <p:nvPr/>
        </p:nvSpPr>
        <p:spPr>
          <a:xfrm>
            <a:off x="658368" y="9454896"/>
            <a:ext cx="17007840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⊙：逐元素相乘；特征门控与LSTM内部门控为不同部件。平均门控值表示特征保留程度。</a:t>
            </a:r>
            <a:endParaRPr lang="zh-CN" sz="1100"/>
          </a:p>
        </p:txBody>
      </p:sp>
      <p:sp>
        <p:nvSpPr>
          <p:cNvPr id="117" name="模型依据：FeatureAttentionRiskLSTM · 12特征实验 ·"/>
          <p:cNvSpPr/>
          <p:nvPr/>
        </p:nvSpPr>
        <p:spPr>
          <a:xfrm>
            <a:off x="530352" y="9829800"/>
            <a:ext cx="162763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模型依据：FeatureAttentionRiskLSTM · 12特征实验 · L = 20，H = 64</a:t>
            </a:r>
            <a:endParaRPr lang="zh-CN" sz="1000"/>
          </a:p>
        </p:txBody>
      </p:sp>
      <p:sp>
        <p:nvSpPr>
          <p:cNvPr id="118" name="01"/>
          <p:cNvSpPr/>
          <p:nvPr/>
        </p:nvSpPr>
        <p:spPr>
          <a:xfrm>
            <a:off x="17327880" y="9802368"/>
            <a:ext cx="457200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01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特征级Attention门控：逐时刻动态加权与解释输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特征级Attention门控：逐时刻动态加权与解释输出"/>
          <p:cNvSpPr/>
          <p:nvPr/>
        </p:nvSpPr>
        <p:spPr>
          <a:xfrm>
            <a:off x="502920" y="292608"/>
            <a:ext cx="17282160" cy="49377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5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特征级Attention门控：逐时刻动态加权与解释输出</a:t>
            </a:r>
            <a:endParaRPr lang="zh-CN" sz="2500"/>
          </a:p>
        </p:txBody>
      </p:sp>
      <p:sp>
        <p:nvSpPr>
          <p:cNvPr id="3" name="共享门控网络逐时刻处理12维输入，独立生成各特征保留系数，并按时间维求平均"/>
          <p:cNvSpPr/>
          <p:nvPr/>
        </p:nvSpPr>
        <p:spPr>
          <a:xfrm>
            <a:off x="502920" y="868680"/>
            <a:ext cx="17282160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共享门控网络逐时刻处理12维输入，独立生成各特征保留系数，并按时间维求平均</a:t>
            </a:r>
            <a:endParaRPr lang="zh-CN" sz="1300"/>
          </a:p>
        </p:txBody>
      </p:sp>
      <p:cxnSp>
        <p:nvCxnSpPr>
          <p:cNvPr id="4" name="连接线 4"/>
          <p:cNvCxnSpPr/>
          <p:nvPr/>
        </p:nvCxnSpPr>
        <p:spPr>
          <a:xfrm>
            <a:off x="502920" y="1307592"/>
            <a:ext cx="1728216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" name="形状 5"/>
          <p:cNvSpPr/>
          <p:nvPr/>
        </p:nvSpPr>
        <p:spPr>
          <a:xfrm>
            <a:off x="640080" y="1581912"/>
            <a:ext cx="17007840" cy="411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" name="逐时刻门控计算与解释输出"/>
          <p:cNvSpPr/>
          <p:nvPr/>
        </p:nvSpPr>
        <p:spPr>
          <a:xfrm>
            <a:off x="804672" y="1673352"/>
            <a:ext cx="1667865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逐时刻门控计算与解释输出</a:t>
            </a:r>
            <a:endParaRPr lang="zh-CN" sz="1600"/>
          </a:p>
        </p:txBody>
      </p:sp>
      <p:cxnSp>
        <p:nvCxnSpPr>
          <p:cNvPr id="7" name="连接线 7"/>
          <p:cNvCxnSpPr/>
          <p:nvPr/>
        </p:nvCxnSpPr>
        <p:spPr>
          <a:xfrm>
            <a:off x="804672" y="2066544"/>
            <a:ext cx="1667865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8" name="输入"/>
          <p:cNvSpPr/>
          <p:nvPr/>
        </p:nvSpPr>
        <p:spPr>
          <a:xfrm>
            <a:off x="914400" y="2496312"/>
            <a:ext cx="2807368" cy="694944"/>
          </a:xfrm>
          <a:prstGeom prst="rect">
            <a:avLst/>
          </a:prstGeom>
          <a:solidFill>
            <a:srgbClr val="F6F8FA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x̂ₖ ∈ R¹²</a:t>
            </a:r>
            <a:endParaRPr lang="zh-CN" sz="1600"/>
          </a:p>
        </p:txBody>
      </p:sp>
      <p:sp>
        <p:nvSpPr>
          <p:cNvPr id="9" name="Linear"/>
          <p:cNvSpPr/>
          <p:nvPr/>
        </p:nvSpPr>
        <p:spPr>
          <a:xfrm>
            <a:off x="4213058" y="2496312"/>
            <a:ext cx="2807368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 → 16</a:t>
            </a:r>
            <a:endParaRPr lang="zh-CN" sz="1600"/>
          </a:p>
        </p:txBody>
      </p:sp>
      <p:cxnSp>
        <p:nvCxnSpPr>
          <p:cNvPr id="10" name="连接线 10"/>
          <p:cNvCxnSpPr/>
          <p:nvPr/>
        </p:nvCxnSpPr>
        <p:spPr>
          <a:xfrm>
            <a:off x="3721768" y="2843784"/>
            <a:ext cx="491289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11" name="tanh"/>
          <p:cNvSpPr/>
          <p:nvPr/>
        </p:nvSpPr>
        <p:spPr>
          <a:xfrm>
            <a:off x="7511716" y="2496312"/>
            <a:ext cx="2807368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非线性变换</a:t>
            </a:r>
            <a:endParaRPr lang="zh-CN" sz="1600"/>
          </a:p>
        </p:txBody>
      </p:sp>
      <p:cxnSp>
        <p:nvCxnSpPr>
          <p:cNvPr id="12" name="连接线 12"/>
          <p:cNvCxnSpPr/>
          <p:nvPr/>
        </p:nvCxnSpPr>
        <p:spPr>
          <a:xfrm>
            <a:off x="7020426" y="2843784"/>
            <a:ext cx="491289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13" name="Linear"/>
          <p:cNvSpPr/>
          <p:nvPr/>
        </p:nvSpPr>
        <p:spPr>
          <a:xfrm>
            <a:off x="10810374" y="2496312"/>
            <a:ext cx="2807368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16 → 12</a:t>
            </a:r>
            <a:endParaRPr lang="zh-CN" sz="1600"/>
          </a:p>
        </p:txBody>
      </p:sp>
      <p:cxnSp>
        <p:nvCxnSpPr>
          <p:cNvPr id="14" name="连接线 14"/>
          <p:cNvCxnSpPr/>
          <p:nvPr/>
        </p:nvCxnSpPr>
        <p:spPr>
          <a:xfrm>
            <a:off x="10319084" y="2843784"/>
            <a:ext cx="491289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15" name="Sigmoid"/>
          <p:cNvSpPr/>
          <p:nvPr/>
        </p:nvSpPr>
        <p:spPr>
          <a:xfrm>
            <a:off x="14109032" y="2496312"/>
            <a:ext cx="2807368" cy="69494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1600"/>
          </a:p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aₖ ∈ (0,1)¹²</a:t>
            </a:r>
            <a:endParaRPr lang="zh-CN" sz="1600"/>
          </a:p>
        </p:txBody>
      </p:sp>
      <p:cxnSp>
        <p:nvCxnSpPr>
          <p:cNvPr id="16" name="连接线 16"/>
          <p:cNvCxnSpPr/>
          <p:nvPr/>
        </p:nvCxnSpPr>
        <p:spPr>
          <a:xfrm>
            <a:off x="13617742" y="2843784"/>
            <a:ext cx="491289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17" name="⊙"/>
          <p:cNvSpPr/>
          <p:nvPr/>
        </p:nvSpPr>
        <p:spPr>
          <a:xfrm>
            <a:off x="16756380" y="3250692"/>
            <a:ext cx="594360" cy="5943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18" name="连接线 18"/>
          <p:cNvCxnSpPr/>
          <p:nvPr/>
        </p:nvCxnSpPr>
        <p:spPr>
          <a:xfrm>
            <a:off x="15512716" y="3191256"/>
            <a:ext cx="1" cy="35661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19" name="连接线 19"/>
          <p:cNvCxnSpPr/>
          <p:nvPr/>
        </p:nvCxnSpPr>
        <p:spPr>
          <a:xfrm>
            <a:off x="15512716" y="3547872"/>
            <a:ext cx="1312244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20" name="连接线 20"/>
          <p:cNvCxnSpPr/>
          <p:nvPr/>
        </p:nvCxnSpPr>
        <p:spPr>
          <a:xfrm>
            <a:off x="2318084" y="3191256"/>
            <a:ext cx="1" cy="109728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21" name="连接线 21"/>
          <p:cNvCxnSpPr/>
          <p:nvPr/>
        </p:nvCxnSpPr>
        <p:spPr>
          <a:xfrm flipH="1">
            <a:off x="758952" y="3300984"/>
            <a:ext cx="1559132" cy="1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22" name="连接线 22"/>
          <p:cNvCxnSpPr/>
          <p:nvPr/>
        </p:nvCxnSpPr>
        <p:spPr>
          <a:xfrm>
            <a:off x="758952" y="3300984"/>
            <a:ext cx="1" cy="768096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23" name="连接线 23"/>
          <p:cNvCxnSpPr/>
          <p:nvPr/>
        </p:nvCxnSpPr>
        <p:spPr>
          <a:xfrm>
            <a:off x="758952" y="4069080"/>
            <a:ext cx="16294608" cy="1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24" name="连接线 24"/>
          <p:cNvCxnSpPr/>
          <p:nvPr/>
        </p:nvCxnSpPr>
        <p:spPr>
          <a:xfrm flipV="1">
            <a:off x="17053560" y="3776472"/>
            <a:ext cx="1" cy="292608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25" name="标准化输入旁路 x̂ₖ"/>
          <p:cNvSpPr/>
          <p:nvPr/>
        </p:nvSpPr>
        <p:spPr>
          <a:xfrm>
            <a:off x="1005840" y="3803904"/>
            <a:ext cx="7823606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标准化输入旁路 x̂ₖ</a:t>
            </a:r>
            <a:endParaRPr lang="zh-CN" sz="1500"/>
          </a:p>
        </p:txBody>
      </p:sp>
      <p:sp>
        <p:nvSpPr>
          <p:cNvPr id="26" name="aₖ = σ(W₂ tanh(W₁x̂ₖ + b₁) + b₂)"/>
          <p:cNvSpPr/>
          <p:nvPr/>
        </p:nvSpPr>
        <p:spPr>
          <a:xfrm>
            <a:off x="950976" y="3401568"/>
            <a:ext cx="16139160" cy="36576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aₖ = σ(W₂ tanh(W₁x̂ₖ + b₁) + b₂)</a:t>
            </a:r>
            <a:endParaRPr lang="zh-CN" sz="2000"/>
          </a:p>
        </p:txBody>
      </p:sp>
      <p:cxnSp>
        <p:nvCxnSpPr>
          <p:cNvPr id="27" name="连接线 27"/>
          <p:cNvCxnSpPr/>
          <p:nvPr/>
        </p:nvCxnSpPr>
        <p:spPr>
          <a:xfrm>
            <a:off x="17282160" y="3547872"/>
            <a:ext cx="246888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8" name="xₖʷ = aₖ ⊙ x̂ₖ"/>
          <p:cNvSpPr/>
          <p:nvPr/>
        </p:nvSpPr>
        <p:spPr>
          <a:xfrm>
            <a:off x="15270480" y="4151376"/>
            <a:ext cx="2103120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xₖʷ = aₖ ⊙ x̂ₖ</a:t>
            </a:r>
            <a:endParaRPr lang="zh-CN" sz="1800"/>
          </a:p>
        </p:txBody>
      </p:sp>
      <p:sp>
        <p:nvSpPr>
          <p:cNvPr id="29" name="Aⱼ = (1/20) Σₖ₌₁²⁰ aₖ,ⱼ"/>
          <p:cNvSpPr/>
          <p:nvPr/>
        </p:nvSpPr>
        <p:spPr>
          <a:xfrm>
            <a:off x="950976" y="5020056"/>
            <a:ext cx="9694469" cy="411480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Aⱼ = (1/20) Σₖ₌₁²⁰ aₖ,ⱼ</a:t>
            </a:r>
            <a:endParaRPr lang="zh-CN" sz="1800"/>
          </a:p>
        </p:txBody>
      </p:sp>
      <p:cxnSp>
        <p:nvCxnSpPr>
          <p:cNvPr id="30" name="连接线 30"/>
          <p:cNvCxnSpPr/>
          <p:nvPr/>
        </p:nvCxnSpPr>
        <p:spPr>
          <a:xfrm>
            <a:off x="16916400" y="2843784"/>
            <a:ext cx="585216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31" name="连接线 31"/>
          <p:cNvCxnSpPr/>
          <p:nvPr/>
        </p:nvCxnSpPr>
        <p:spPr>
          <a:xfrm>
            <a:off x="17501616" y="2843784"/>
            <a:ext cx="1" cy="2377440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32" name="连接线 32"/>
          <p:cNvCxnSpPr/>
          <p:nvPr/>
        </p:nvCxnSpPr>
        <p:spPr>
          <a:xfrm flipH="1">
            <a:off x="10645445" y="5221224"/>
            <a:ext cx="6856171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  <a:tailEnd type="triangle" w="sm" len="sm"/>
          </a:ln>
        </p:spPr>
      </p:cxnSp>
      <p:sp>
        <p:nvSpPr>
          <p:cNvPr id="33" name="20步时间平均 → 12项平均门控值"/>
          <p:cNvSpPr/>
          <p:nvPr/>
        </p:nvSpPr>
        <p:spPr>
          <a:xfrm>
            <a:off x="950976" y="4709160"/>
            <a:ext cx="16386048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0" i="0">
                <a:solidFill>
                  <a:srgbClr val="986344"/>
                </a:solidFill>
                <a:latin typeface="Times New Roman"/>
                <a:ea typeface="宋体"/>
                <a:cs typeface="Times New Roman"/>
              </a:rPr>
              <a:t>20步时间平均 → 12项平均门控值</a:t>
            </a:r>
            <a:endParaRPr lang="zh-CN" sz="1500"/>
          </a:p>
        </p:txBody>
      </p:sp>
      <p:sp>
        <p:nvSpPr>
          <p:cNvPr id="34" name="形状 34"/>
          <p:cNvSpPr/>
          <p:nvPr/>
        </p:nvSpPr>
        <p:spPr>
          <a:xfrm>
            <a:off x="640080" y="6053328"/>
            <a:ext cx="17007840" cy="3355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" name="参数、维度与数据含义"/>
          <p:cNvSpPr/>
          <p:nvPr/>
        </p:nvSpPr>
        <p:spPr>
          <a:xfrm>
            <a:off x="804672" y="6144768"/>
            <a:ext cx="1667865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参数、维度与数据含义</a:t>
            </a:r>
            <a:endParaRPr lang="zh-CN" sz="1600"/>
          </a:p>
        </p:txBody>
      </p:sp>
      <p:cxnSp>
        <p:nvCxnSpPr>
          <p:cNvPr id="36" name="连接线 36"/>
          <p:cNvCxnSpPr/>
          <p:nvPr/>
        </p:nvCxnSpPr>
        <p:spPr>
          <a:xfrm>
            <a:off x="804672" y="6537960"/>
            <a:ext cx="1667865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37" name="输入"/>
          <p:cNvSpPr/>
          <p:nvPr/>
        </p:nvSpPr>
        <p:spPr>
          <a:xfrm>
            <a:off x="914400" y="6748272"/>
            <a:ext cx="1554480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输入</a:t>
            </a:r>
            <a:endParaRPr lang="zh-CN" sz="1600"/>
          </a:p>
        </p:txBody>
      </p:sp>
      <p:sp>
        <p:nvSpPr>
          <p:cNvPr id="38" name="x̂ₖ ∈ R¹²，k = 1, …, 20；使用训练集均值与标准差进行标准化"/>
          <p:cNvSpPr/>
          <p:nvPr/>
        </p:nvSpPr>
        <p:spPr>
          <a:xfrm>
            <a:off x="2587752" y="6748272"/>
            <a:ext cx="14410944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x̂ₖ ∈ R¹²，k = 1, …, 20；使用训练集均值与标准差进行标准化</a:t>
            </a:r>
            <a:endParaRPr lang="zh-CN" sz="1800"/>
          </a:p>
        </p:txBody>
      </p:sp>
      <p:sp>
        <p:nvSpPr>
          <p:cNvPr id="39" name="门控参数"/>
          <p:cNvSpPr/>
          <p:nvPr/>
        </p:nvSpPr>
        <p:spPr>
          <a:xfrm>
            <a:off x="914400" y="7260336"/>
            <a:ext cx="1554480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门控参数</a:t>
            </a:r>
            <a:endParaRPr lang="zh-CN" sz="1600"/>
          </a:p>
        </p:txBody>
      </p:sp>
      <p:sp>
        <p:nvSpPr>
          <p:cNvPr id="40" name="W₁ ∈ R¹⁶ˣ¹²，b₁ ∈ R¹⁶；W₂ ∈ R¹²ˣ¹⁶，b₂ ∈ R¹"/>
          <p:cNvSpPr/>
          <p:nvPr/>
        </p:nvSpPr>
        <p:spPr>
          <a:xfrm>
            <a:off x="2587752" y="7260336"/>
            <a:ext cx="14410944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W₁ ∈ R¹⁶ˣ¹²，b₁ ∈ R¹⁶；W₂ ∈ R¹²ˣ¹⁶，b₂ ∈ R¹²</a:t>
            </a:r>
            <a:endParaRPr lang="zh-CN" sz="1800"/>
          </a:p>
        </p:txBody>
      </p:sp>
      <p:sp>
        <p:nvSpPr>
          <p:cNvPr id="41" name="加权序列"/>
          <p:cNvSpPr/>
          <p:nvPr/>
        </p:nvSpPr>
        <p:spPr>
          <a:xfrm>
            <a:off x="914400" y="7772400"/>
            <a:ext cx="1554480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加权序列</a:t>
            </a:r>
            <a:endParaRPr lang="zh-CN" sz="1600"/>
          </a:p>
        </p:txBody>
      </p:sp>
      <p:sp>
        <p:nvSpPr>
          <p:cNvPr id="42" name="aₖ = σ(W₂ tanh(W₁x̂ₖ + b₁) + b₂)；xₖʷ = a"/>
          <p:cNvSpPr/>
          <p:nvPr/>
        </p:nvSpPr>
        <p:spPr>
          <a:xfrm>
            <a:off x="2587752" y="7772400"/>
            <a:ext cx="14410944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aₖ = σ(W₂ tanh(W₁x̂ₖ + b₁) + b₂)；xₖʷ = aₖ ⊙ x̂ₖ</a:t>
            </a:r>
            <a:endParaRPr lang="zh-CN" sz="1800"/>
          </a:p>
        </p:txBody>
      </p:sp>
      <p:sp>
        <p:nvSpPr>
          <p:cNvPr id="43" name="解释输出"/>
          <p:cNvSpPr/>
          <p:nvPr/>
        </p:nvSpPr>
        <p:spPr>
          <a:xfrm>
            <a:off x="914400" y="8284464"/>
            <a:ext cx="1554480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解释输出</a:t>
            </a:r>
            <a:endParaRPr lang="zh-CN" sz="1600"/>
          </a:p>
        </p:txBody>
      </p:sp>
      <p:sp>
        <p:nvSpPr>
          <p:cNvPr id="44" name="Aⱼ = (1/20) Σₖ₌₁²⁰ aₖ,ⱼ，j = 1, …, 12；Aⱼ表"/>
          <p:cNvSpPr/>
          <p:nvPr/>
        </p:nvSpPr>
        <p:spPr>
          <a:xfrm>
            <a:off x="2587752" y="8284464"/>
            <a:ext cx="14410944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Aⱼ = (1/20) Σₖ₌₁²⁰ aₖ,ⱼ，j = 1, …, 12；Aⱼ表示窗口内平均保留程度</a:t>
            </a:r>
            <a:endParaRPr lang="zh-CN" sz="1800"/>
          </a:p>
        </p:txBody>
      </p:sp>
      <p:sp>
        <p:nvSpPr>
          <p:cNvPr id="45" name="各门控分量取值于0～1，不要求12项之和为1；平均门控值不直接表示因果贡献率。"/>
          <p:cNvSpPr/>
          <p:nvPr/>
        </p:nvSpPr>
        <p:spPr>
          <a:xfrm>
            <a:off x="914400" y="8869680"/>
            <a:ext cx="16276320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各门控分量取值于0～1，不要求12项之和为1；平均门控值不直接表示因果贡献率。</a:t>
            </a:r>
            <a:endParaRPr lang="zh-CN" sz="1500"/>
          </a:p>
        </p:txBody>
      </p:sp>
      <p:sp>
        <p:nvSpPr>
          <p:cNvPr id="46" name="模型依据：FeatureAttentionRiskLSTM · 12特征实验 ·"/>
          <p:cNvSpPr/>
          <p:nvPr/>
        </p:nvSpPr>
        <p:spPr>
          <a:xfrm>
            <a:off x="530352" y="9829800"/>
            <a:ext cx="162763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模型依据：FeatureAttentionRiskLSTM · 12特征实验 · L = 20，H = 64</a:t>
            </a:r>
            <a:endParaRPr lang="zh-CN" sz="1000"/>
          </a:p>
        </p:txBody>
      </p:sp>
      <p:sp>
        <p:nvSpPr>
          <p:cNvPr id="47" name="02"/>
          <p:cNvSpPr/>
          <p:nvPr/>
        </p:nvSpPr>
        <p:spPr>
          <a:xfrm>
            <a:off x="17327880" y="9802368"/>
            <a:ext cx="457200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02</a:t>
            </a:r>
            <a:endParaRPr lang="zh-C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LSTM时序编码器：内部门控与记忆状态更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TM时序编码器：内部门控与记忆状态更新"/>
          <p:cNvSpPr/>
          <p:nvPr/>
        </p:nvSpPr>
        <p:spPr>
          <a:xfrm>
            <a:off x="502920" y="292608"/>
            <a:ext cx="17282160" cy="49377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5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LSTM时序编码器：内部门控与记忆状态更新</a:t>
            </a:r>
            <a:endParaRPr lang="zh-CN" sz="2500"/>
          </a:p>
        </p:txBody>
      </p:sp>
      <p:sp>
        <p:nvSpPr>
          <p:cNvPr id="3" name="两层共享结构、参数分别学习；输入门、遗忘门、候选记忆和输出门共同更新状态"/>
          <p:cNvSpPr/>
          <p:nvPr/>
        </p:nvSpPr>
        <p:spPr>
          <a:xfrm>
            <a:off x="502920" y="868680"/>
            <a:ext cx="17282160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两层共享结构、参数分别学习；输入门、遗忘门、候选记忆和输出门共同更新状态</a:t>
            </a:r>
            <a:endParaRPr lang="zh-CN" sz="1300"/>
          </a:p>
        </p:txBody>
      </p:sp>
      <p:cxnSp>
        <p:nvCxnSpPr>
          <p:cNvPr id="4" name="连接线 4"/>
          <p:cNvCxnSpPr/>
          <p:nvPr/>
        </p:nvCxnSpPr>
        <p:spPr>
          <a:xfrm>
            <a:off x="502920" y="1307592"/>
            <a:ext cx="1728216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" name="形状 5"/>
          <p:cNvSpPr/>
          <p:nvPr/>
        </p:nvSpPr>
        <p:spPr>
          <a:xfrm>
            <a:off x="640080" y="1600200"/>
            <a:ext cx="17007840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" name="单层单时刻LSTM单元：完整状态更新路径"/>
          <p:cNvSpPr/>
          <p:nvPr/>
        </p:nvSpPr>
        <p:spPr>
          <a:xfrm>
            <a:off x="804672" y="1691640"/>
            <a:ext cx="1667865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单层单时刻LSTM单元：完整状态更新路径</a:t>
            </a:r>
            <a:endParaRPr lang="zh-CN" sz="1600"/>
          </a:p>
        </p:txBody>
      </p:sp>
      <p:cxnSp>
        <p:nvCxnSpPr>
          <p:cNvPr id="7" name="连接线 7"/>
          <p:cNvCxnSpPr/>
          <p:nvPr/>
        </p:nvCxnSpPr>
        <p:spPr>
          <a:xfrm>
            <a:off x="804672" y="2084832"/>
            <a:ext cx="1667865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8" name="cₖ₋₁"/>
          <p:cNvSpPr/>
          <p:nvPr/>
        </p:nvSpPr>
        <p:spPr>
          <a:xfrm>
            <a:off x="914400" y="2295144"/>
            <a:ext cx="2721254" cy="36576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cₖ₋₁</a:t>
            </a:r>
            <a:endParaRPr lang="zh-CN" sz="2200"/>
          </a:p>
        </p:txBody>
      </p:sp>
      <p:cxnSp>
        <p:nvCxnSpPr>
          <p:cNvPr id="9" name="连接线 9"/>
          <p:cNvCxnSpPr/>
          <p:nvPr/>
        </p:nvCxnSpPr>
        <p:spPr>
          <a:xfrm>
            <a:off x="3125419" y="2514600"/>
            <a:ext cx="1216152" cy="1"/>
          </a:xfrm>
          <a:prstGeom prst="line">
            <a:avLst/>
          </a:prstGeom>
          <a:ln w="21590">
            <a:solidFill>
              <a:srgbClr val="39766C"/>
            </a:solidFill>
            <a:tailEnd type="triangle" w="sm" len="sm"/>
          </a:ln>
        </p:spPr>
      </p:cxnSp>
      <p:sp>
        <p:nvSpPr>
          <p:cNvPr id="10" name="⊙"/>
          <p:cNvSpPr/>
          <p:nvPr/>
        </p:nvSpPr>
        <p:spPr>
          <a:xfrm>
            <a:off x="4369003" y="2331720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11" name="连接线 11"/>
          <p:cNvCxnSpPr/>
          <p:nvPr/>
        </p:nvCxnSpPr>
        <p:spPr>
          <a:xfrm>
            <a:off x="4762195" y="2514600"/>
            <a:ext cx="5702198" cy="1"/>
          </a:xfrm>
          <a:prstGeom prst="line">
            <a:avLst/>
          </a:prstGeom>
          <a:ln w="21590">
            <a:solidFill>
              <a:srgbClr val="39766C"/>
            </a:solidFill>
            <a:tailEnd type="triangle" w="sm" len="sm"/>
          </a:ln>
        </p:spPr>
      </p:cxnSp>
      <p:sp>
        <p:nvSpPr>
          <p:cNvPr id="12" name="+"/>
          <p:cNvSpPr/>
          <p:nvPr/>
        </p:nvSpPr>
        <p:spPr>
          <a:xfrm>
            <a:off x="10491826" y="2331720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+</a:t>
            </a:r>
            <a:endParaRPr lang="zh-CN" sz="1800"/>
          </a:p>
        </p:txBody>
      </p:sp>
      <p:cxnSp>
        <p:nvCxnSpPr>
          <p:cNvPr id="13" name="连接线 13"/>
          <p:cNvCxnSpPr/>
          <p:nvPr/>
        </p:nvCxnSpPr>
        <p:spPr>
          <a:xfrm>
            <a:off x="10885018" y="2514600"/>
            <a:ext cx="5830214" cy="1"/>
          </a:xfrm>
          <a:prstGeom prst="line">
            <a:avLst/>
          </a:prstGeom>
          <a:ln w="21590">
            <a:solidFill>
              <a:srgbClr val="39766C"/>
            </a:solidFill>
            <a:tailEnd type="triangle" w="sm" len="sm"/>
          </a:ln>
        </p:spPr>
      </p:cxnSp>
      <p:sp>
        <p:nvSpPr>
          <p:cNvPr id="14" name="cₖ"/>
          <p:cNvSpPr/>
          <p:nvPr/>
        </p:nvSpPr>
        <p:spPr>
          <a:xfrm>
            <a:off x="16806672" y="2295144"/>
            <a:ext cx="594360" cy="36576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</a:t>
            </a:r>
            <a:endParaRPr lang="zh-CN" sz="2200"/>
          </a:p>
        </p:txBody>
      </p:sp>
      <p:sp>
        <p:nvSpPr>
          <p:cNvPr id="15" name="Wf uₖ + bf"/>
          <p:cNvSpPr/>
          <p:nvPr/>
        </p:nvSpPr>
        <p:spPr>
          <a:xfrm>
            <a:off x="3616452" y="3447288"/>
            <a:ext cx="1870862" cy="731520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Wf uₖ + bf</a:t>
            </a:r>
            <a:endParaRPr lang="zh-CN" sz="1700"/>
          </a:p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σ</a:t>
            </a:r>
            <a:endParaRPr lang="zh-CN" sz="1700"/>
          </a:p>
        </p:txBody>
      </p:sp>
      <p:sp>
        <p:nvSpPr>
          <p:cNvPr id="16" name="遗忘门 fₖ"/>
          <p:cNvSpPr/>
          <p:nvPr/>
        </p:nvSpPr>
        <p:spPr>
          <a:xfrm>
            <a:off x="2961650" y="4251960"/>
            <a:ext cx="3180466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遗忘门 fₖ</a:t>
            </a:r>
            <a:endParaRPr lang="zh-CN" sz="1600"/>
          </a:p>
        </p:txBody>
      </p:sp>
      <p:cxnSp>
        <p:nvCxnSpPr>
          <p:cNvPr id="17" name="连接线 17"/>
          <p:cNvCxnSpPr/>
          <p:nvPr/>
        </p:nvCxnSpPr>
        <p:spPr>
          <a:xfrm flipV="1">
            <a:off x="4551883" y="4178808"/>
            <a:ext cx="1" cy="987552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sp>
        <p:nvSpPr>
          <p:cNvPr id="18" name="Wi uₖ + bi"/>
          <p:cNvSpPr/>
          <p:nvPr/>
        </p:nvSpPr>
        <p:spPr>
          <a:xfrm>
            <a:off x="6507785" y="3447288"/>
            <a:ext cx="1870862" cy="731520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Wi uₖ + bi</a:t>
            </a:r>
            <a:endParaRPr lang="zh-CN" sz="1700"/>
          </a:p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σ</a:t>
            </a:r>
            <a:endParaRPr lang="zh-CN" sz="1700"/>
          </a:p>
        </p:txBody>
      </p:sp>
      <p:sp>
        <p:nvSpPr>
          <p:cNvPr id="19" name="输入门 iₖ"/>
          <p:cNvSpPr/>
          <p:nvPr/>
        </p:nvSpPr>
        <p:spPr>
          <a:xfrm>
            <a:off x="5852983" y="4251960"/>
            <a:ext cx="3180466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输入门 iₖ</a:t>
            </a:r>
            <a:endParaRPr lang="zh-CN" sz="1600"/>
          </a:p>
        </p:txBody>
      </p:sp>
      <p:cxnSp>
        <p:nvCxnSpPr>
          <p:cNvPr id="20" name="连接线 20"/>
          <p:cNvCxnSpPr/>
          <p:nvPr/>
        </p:nvCxnSpPr>
        <p:spPr>
          <a:xfrm flipV="1">
            <a:off x="7443216" y="4178808"/>
            <a:ext cx="1" cy="987552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sp>
        <p:nvSpPr>
          <p:cNvPr id="21" name="Wg uₖ + bg"/>
          <p:cNvSpPr/>
          <p:nvPr/>
        </p:nvSpPr>
        <p:spPr>
          <a:xfrm>
            <a:off x="9229039" y="3447288"/>
            <a:ext cx="1870862" cy="731520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Wg uₖ + bg</a:t>
            </a:r>
            <a:endParaRPr lang="zh-CN" sz="1700"/>
          </a:p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tanh</a:t>
            </a:r>
            <a:endParaRPr lang="zh-CN" sz="1700"/>
          </a:p>
        </p:txBody>
      </p:sp>
      <p:sp>
        <p:nvSpPr>
          <p:cNvPr id="22" name="候选记忆 gₖ"/>
          <p:cNvSpPr/>
          <p:nvPr/>
        </p:nvSpPr>
        <p:spPr>
          <a:xfrm>
            <a:off x="8574237" y="4251960"/>
            <a:ext cx="3180466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候选记忆 gₖ</a:t>
            </a:r>
            <a:endParaRPr lang="zh-CN" sz="1600"/>
          </a:p>
        </p:txBody>
      </p:sp>
      <p:cxnSp>
        <p:nvCxnSpPr>
          <p:cNvPr id="23" name="连接线 23"/>
          <p:cNvCxnSpPr/>
          <p:nvPr/>
        </p:nvCxnSpPr>
        <p:spPr>
          <a:xfrm flipV="1">
            <a:off x="10164470" y="4178808"/>
            <a:ext cx="1" cy="987552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sp>
        <p:nvSpPr>
          <p:cNvPr id="24" name="Wo uₖ + bo"/>
          <p:cNvSpPr/>
          <p:nvPr/>
        </p:nvSpPr>
        <p:spPr>
          <a:xfrm>
            <a:off x="12800686" y="3447288"/>
            <a:ext cx="1870862" cy="731520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Wo uₖ + bo</a:t>
            </a:r>
            <a:endParaRPr lang="zh-CN" sz="1700"/>
          </a:p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σ</a:t>
            </a:r>
            <a:endParaRPr lang="zh-CN" sz="1700"/>
          </a:p>
        </p:txBody>
      </p:sp>
      <p:sp>
        <p:nvSpPr>
          <p:cNvPr id="25" name="输出门 oₖ"/>
          <p:cNvSpPr/>
          <p:nvPr/>
        </p:nvSpPr>
        <p:spPr>
          <a:xfrm>
            <a:off x="12145884" y="4251960"/>
            <a:ext cx="3180466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输出门 oₖ</a:t>
            </a:r>
            <a:endParaRPr lang="zh-CN" sz="1600"/>
          </a:p>
        </p:txBody>
      </p:sp>
      <p:cxnSp>
        <p:nvCxnSpPr>
          <p:cNvPr id="26" name="连接线 26"/>
          <p:cNvCxnSpPr/>
          <p:nvPr/>
        </p:nvCxnSpPr>
        <p:spPr>
          <a:xfrm flipV="1">
            <a:off x="13736117" y="4178808"/>
            <a:ext cx="1" cy="987552"/>
          </a:xfrm>
          <a:prstGeom prst="line">
            <a:avLst/>
          </a:prstGeom>
          <a:ln w="11430">
            <a:solidFill>
              <a:srgbClr val="667785"/>
            </a:solidFill>
            <a:tailEnd type="triangle" w="sm" len="sm"/>
          </a:ln>
        </p:spPr>
      </p:cxnSp>
      <p:cxnSp>
        <p:nvCxnSpPr>
          <p:cNvPr id="27" name="连接线 27"/>
          <p:cNvCxnSpPr/>
          <p:nvPr/>
        </p:nvCxnSpPr>
        <p:spPr>
          <a:xfrm flipV="1">
            <a:off x="4551883" y="2724912"/>
            <a:ext cx="1" cy="722376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8" name="⊙"/>
          <p:cNvSpPr/>
          <p:nvPr/>
        </p:nvSpPr>
        <p:spPr>
          <a:xfrm>
            <a:off x="8620963" y="2816352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29" name="连接线 29"/>
          <p:cNvCxnSpPr/>
          <p:nvPr/>
        </p:nvCxnSpPr>
        <p:spPr>
          <a:xfrm flipV="1">
            <a:off x="7443216" y="2999232"/>
            <a:ext cx="1" cy="44805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30" name="连接线 30"/>
          <p:cNvCxnSpPr/>
          <p:nvPr/>
        </p:nvCxnSpPr>
        <p:spPr>
          <a:xfrm>
            <a:off x="7443216" y="2999232"/>
            <a:ext cx="1150315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31" name="连接线 31"/>
          <p:cNvCxnSpPr/>
          <p:nvPr/>
        </p:nvCxnSpPr>
        <p:spPr>
          <a:xfrm flipV="1">
            <a:off x="10164470" y="2999232"/>
            <a:ext cx="1" cy="448056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32" name="连接线 32"/>
          <p:cNvCxnSpPr/>
          <p:nvPr/>
        </p:nvCxnSpPr>
        <p:spPr>
          <a:xfrm flipH="1">
            <a:off x="9014155" y="2999232"/>
            <a:ext cx="1150315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33" name="连接线 33"/>
          <p:cNvCxnSpPr/>
          <p:nvPr/>
        </p:nvCxnSpPr>
        <p:spPr>
          <a:xfrm>
            <a:off x="8803843" y="2788920"/>
            <a:ext cx="1" cy="109728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34" name="连接线 34"/>
          <p:cNvCxnSpPr/>
          <p:nvPr/>
        </p:nvCxnSpPr>
        <p:spPr>
          <a:xfrm>
            <a:off x="8803843" y="2898648"/>
            <a:ext cx="1870862" cy="1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35" name="连接线 35"/>
          <p:cNvCxnSpPr/>
          <p:nvPr/>
        </p:nvCxnSpPr>
        <p:spPr>
          <a:xfrm flipV="1">
            <a:off x="10674706" y="2724912"/>
            <a:ext cx="1" cy="173736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6" name="tanh"/>
          <p:cNvSpPr/>
          <p:nvPr/>
        </p:nvSpPr>
        <p:spPr>
          <a:xfrm>
            <a:off x="12574829" y="2743200"/>
            <a:ext cx="621792" cy="393192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tanh</a:t>
            </a:r>
            <a:endParaRPr lang="zh-CN" sz="2000"/>
          </a:p>
        </p:txBody>
      </p:sp>
      <p:cxnSp>
        <p:nvCxnSpPr>
          <p:cNvPr id="37" name="连接线 37"/>
          <p:cNvCxnSpPr/>
          <p:nvPr/>
        </p:nvCxnSpPr>
        <p:spPr>
          <a:xfrm>
            <a:off x="12885725" y="2514600"/>
            <a:ext cx="1" cy="22860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8" name="⊙"/>
          <p:cNvSpPr/>
          <p:nvPr/>
        </p:nvSpPr>
        <p:spPr>
          <a:xfrm>
            <a:off x="15254021" y="2935224"/>
            <a:ext cx="365760" cy="36576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800"/>
          </a:p>
        </p:txBody>
      </p:sp>
      <p:cxnSp>
        <p:nvCxnSpPr>
          <p:cNvPr id="39" name="连接线 39"/>
          <p:cNvCxnSpPr/>
          <p:nvPr/>
        </p:nvCxnSpPr>
        <p:spPr>
          <a:xfrm flipV="1">
            <a:off x="12885725" y="3118104"/>
            <a:ext cx="1" cy="18288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40" name="连接线 40"/>
          <p:cNvCxnSpPr/>
          <p:nvPr/>
        </p:nvCxnSpPr>
        <p:spPr>
          <a:xfrm>
            <a:off x="12885725" y="3118104"/>
            <a:ext cx="234086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41" name="连接线 41"/>
          <p:cNvCxnSpPr/>
          <p:nvPr/>
        </p:nvCxnSpPr>
        <p:spPr>
          <a:xfrm>
            <a:off x="13736117" y="3447288"/>
            <a:ext cx="1" cy="1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42" name="连接线 42"/>
          <p:cNvCxnSpPr/>
          <p:nvPr/>
        </p:nvCxnSpPr>
        <p:spPr>
          <a:xfrm>
            <a:off x="13736117" y="3447288"/>
            <a:ext cx="1700784" cy="1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43" name="连接线 43"/>
          <p:cNvCxnSpPr/>
          <p:nvPr/>
        </p:nvCxnSpPr>
        <p:spPr>
          <a:xfrm flipV="1">
            <a:off x="15436901" y="3328416"/>
            <a:ext cx="1" cy="118872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44" name="连接线 44"/>
          <p:cNvCxnSpPr/>
          <p:nvPr/>
        </p:nvCxnSpPr>
        <p:spPr>
          <a:xfrm>
            <a:off x="15647213" y="3118104"/>
            <a:ext cx="1141171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45" name="hₖ"/>
          <p:cNvSpPr/>
          <p:nvPr/>
        </p:nvSpPr>
        <p:spPr>
          <a:xfrm>
            <a:off x="16879824" y="2944368"/>
            <a:ext cx="521208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</a:t>
            </a:r>
            <a:endParaRPr lang="zh-CN" sz="2200"/>
          </a:p>
        </p:txBody>
      </p:sp>
      <p:cxnSp>
        <p:nvCxnSpPr>
          <p:cNvPr id="46" name="连接线 46"/>
          <p:cNvCxnSpPr/>
          <p:nvPr/>
        </p:nvCxnSpPr>
        <p:spPr>
          <a:xfrm>
            <a:off x="1783080" y="5166360"/>
            <a:ext cx="11953037" cy="1"/>
          </a:xfrm>
          <a:prstGeom prst="line">
            <a:avLst/>
          </a:prstGeom>
          <a:ln w="12700">
            <a:solidFill>
              <a:srgbClr val="667785"/>
            </a:solidFill>
          </a:ln>
        </p:spPr>
      </p:cxnSp>
      <p:sp>
        <p:nvSpPr>
          <p:cNvPr id="47" name="uₖ = [hₖ₋₁ ; ξₖ]"/>
          <p:cNvSpPr/>
          <p:nvPr/>
        </p:nvSpPr>
        <p:spPr>
          <a:xfrm>
            <a:off x="914400" y="4828032"/>
            <a:ext cx="5612587" cy="32918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uₖ = [hₖ₋₁ ; ξₖ]</a:t>
            </a:r>
            <a:endParaRPr lang="zh-CN" sz="2000"/>
          </a:p>
        </p:txBody>
      </p:sp>
      <p:sp>
        <p:nvSpPr>
          <p:cNvPr id="48" name="形状 48"/>
          <p:cNvSpPr/>
          <p:nvPr/>
        </p:nvSpPr>
        <p:spPr>
          <a:xfrm>
            <a:off x="640080" y="5943600"/>
            <a:ext cx="17007840" cy="3474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" name="门控方程与两层连接关系"/>
          <p:cNvSpPr/>
          <p:nvPr/>
        </p:nvSpPr>
        <p:spPr>
          <a:xfrm>
            <a:off x="804672" y="6035040"/>
            <a:ext cx="1667865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门控方程与两层连接关系</a:t>
            </a:r>
            <a:endParaRPr lang="zh-CN" sz="1600"/>
          </a:p>
        </p:txBody>
      </p:sp>
      <p:cxnSp>
        <p:nvCxnSpPr>
          <p:cNvPr id="50" name="连接线 50"/>
          <p:cNvCxnSpPr/>
          <p:nvPr/>
        </p:nvCxnSpPr>
        <p:spPr>
          <a:xfrm>
            <a:off x="804672" y="6428232"/>
            <a:ext cx="1667865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51" name="遗忘门"/>
          <p:cNvSpPr/>
          <p:nvPr/>
        </p:nvSpPr>
        <p:spPr>
          <a:xfrm>
            <a:off x="923544" y="6629400"/>
            <a:ext cx="1609344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遗忘门</a:t>
            </a:r>
            <a:endParaRPr lang="zh-CN" sz="1500"/>
          </a:p>
        </p:txBody>
      </p:sp>
      <p:sp>
        <p:nvSpPr>
          <p:cNvPr id="52" name="fₖ = σ(Wf uₖ + bf)"/>
          <p:cNvSpPr/>
          <p:nvPr/>
        </p:nvSpPr>
        <p:spPr>
          <a:xfrm>
            <a:off x="2697480" y="6629400"/>
            <a:ext cx="5605272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fₖ = σ(Wf uₖ + bf)</a:t>
            </a:r>
            <a:endParaRPr lang="zh-CN" sz="2000"/>
          </a:p>
        </p:txBody>
      </p:sp>
      <p:sp>
        <p:nvSpPr>
          <p:cNvPr id="53" name="输入门"/>
          <p:cNvSpPr/>
          <p:nvPr/>
        </p:nvSpPr>
        <p:spPr>
          <a:xfrm>
            <a:off x="923544" y="7068312"/>
            <a:ext cx="1609344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输入门</a:t>
            </a:r>
            <a:endParaRPr lang="zh-CN" sz="1500"/>
          </a:p>
        </p:txBody>
      </p:sp>
      <p:sp>
        <p:nvSpPr>
          <p:cNvPr id="54" name="iₖ = σ(Wi uₖ + bi)"/>
          <p:cNvSpPr/>
          <p:nvPr/>
        </p:nvSpPr>
        <p:spPr>
          <a:xfrm>
            <a:off x="2697480" y="7068312"/>
            <a:ext cx="5605272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iₖ = σ(Wi uₖ + bi)</a:t>
            </a:r>
            <a:endParaRPr lang="zh-CN" sz="2000"/>
          </a:p>
        </p:txBody>
      </p:sp>
      <p:sp>
        <p:nvSpPr>
          <p:cNvPr id="55" name="候选记忆"/>
          <p:cNvSpPr/>
          <p:nvPr/>
        </p:nvSpPr>
        <p:spPr>
          <a:xfrm>
            <a:off x="923544" y="7507224"/>
            <a:ext cx="1609344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候选记忆</a:t>
            </a:r>
            <a:endParaRPr lang="zh-CN" sz="1500"/>
          </a:p>
        </p:txBody>
      </p:sp>
      <p:sp>
        <p:nvSpPr>
          <p:cNvPr id="56" name="gₖ = tanh(Wg uₖ + bg)"/>
          <p:cNvSpPr/>
          <p:nvPr/>
        </p:nvSpPr>
        <p:spPr>
          <a:xfrm>
            <a:off x="2697480" y="7507224"/>
            <a:ext cx="5605272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gₖ = tanh(Wg uₖ + bg)</a:t>
            </a:r>
            <a:endParaRPr lang="zh-CN" sz="2000"/>
          </a:p>
        </p:txBody>
      </p:sp>
      <p:sp>
        <p:nvSpPr>
          <p:cNvPr id="57" name="输出门"/>
          <p:cNvSpPr/>
          <p:nvPr/>
        </p:nvSpPr>
        <p:spPr>
          <a:xfrm>
            <a:off x="923544" y="7946136"/>
            <a:ext cx="1609344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5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输出门</a:t>
            </a:r>
            <a:endParaRPr lang="zh-CN" sz="1500"/>
          </a:p>
        </p:txBody>
      </p:sp>
      <p:sp>
        <p:nvSpPr>
          <p:cNvPr id="58" name="oₖ = σ(Wo uₖ + bo)"/>
          <p:cNvSpPr/>
          <p:nvPr/>
        </p:nvSpPr>
        <p:spPr>
          <a:xfrm>
            <a:off x="2697480" y="7946136"/>
            <a:ext cx="5605272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oₖ = σ(Wo uₖ + bo)</a:t>
            </a:r>
            <a:endParaRPr lang="zh-CN" sz="2000"/>
          </a:p>
        </p:txBody>
      </p:sp>
      <p:sp>
        <p:nvSpPr>
          <p:cNvPr id="59" name="cₖ = fₖ ⊙ cₖ₋₁ + iₖ ⊙ gₖ"/>
          <p:cNvSpPr/>
          <p:nvPr/>
        </p:nvSpPr>
        <p:spPr>
          <a:xfrm>
            <a:off x="9235440" y="6629400"/>
            <a:ext cx="7662672" cy="41148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 = fₖ ⊙ cₖ₋₁ + iₖ ⊙ gₖ</a:t>
            </a:r>
            <a:endParaRPr lang="zh-CN" sz="2300"/>
          </a:p>
        </p:txBody>
      </p:sp>
      <p:sp>
        <p:nvSpPr>
          <p:cNvPr id="60" name="hₖ = oₖ ⊙ tanh(cₖ)"/>
          <p:cNvSpPr/>
          <p:nvPr/>
        </p:nvSpPr>
        <p:spPr>
          <a:xfrm>
            <a:off x="9235440" y="7251192"/>
            <a:ext cx="7662672" cy="41148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 = oₖ ⊙ tanh(cₖ)</a:t>
            </a:r>
            <a:endParaRPr lang="zh-CN" sz="2300"/>
          </a:p>
        </p:txBody>
      </p:sp>
      <p:sp>
        <p:nvSpPr>
          <p:cNvPr id="61" name="uₖ = [hₖ₋₁ ; ξₖ]；cₖ、hₖ ∈ R⁶⁴"/>
          <p:cNvSpPr/>
          <p:nvPr/>
        </p:nvSpPr>
        <p:spPr>
          <a:xfrm>
            <a:off x="9235440" y="7872984"/>
            <a:ext cx="7635240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uₖ = [hₖ₋₁ ; ξₖ]；cₖ、hₖ ∈ R⁶⁴</a:t>
            </a:r>
            <a:endParaRPr lang="zh-CN" sz="1800"/>
          </a:p>
        </p:txBody>
      </p:sp>
      <p:sp>
        <p:nvSpPr>
          <p:cNvPr id="62" name="第1层：ξₖ = xₖʷ；第2层：ξₖ = Dropout₀.₂(hₖ⁽¹⁾)；"/>
          <p:cNvSpPr/>
          <p:nvPr/>
        </p:nvSpPr>
        <p:spPr>
          <a:xfrm>
            <a:off x="923544" y="8732520"/>
            <a:ext cx="16276320" cy="3017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第1层：ξₖ = xₖʷ；第2层：ξₖ = Dropout₀.₂(hₖ⁽¹⁾)；时序表征：r = h₂₀⁽²⁾ ∈ R⁶⁴。</a:t>
            </a:r>
            <a:endParaRPr lang="zh-CN" sz="1700"/>
          </a:p>
        </p:txBody>
      </p:sp>
      <p:sp>
        <p:nvSpPr>
          <p:cNvPr id="63" name="模型依据：FeatureAttentionRiskLSTM · 12特征实验 ·"/>
          <p:cNvSpPr/>
          <p:nvPr/>
        </p:nvSpPr>
        <p:spPr>
          <a:xfrm>
            <a:off x="530352" y="9829800"/>
            <a:ext cx="162763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模型依据：FeatureAttentionRiskLSTM · 12特征实验 · L = 20，H = 64</a:t>
            </a:r>
            <a:endParaRPr lang="zh-CN" sz="1000"/>
          </a:p>
        </p:txBody>
      </p:sp>
      <p:sp>
        <p:nvSpPr>
          <p:cNvPr id="64" name="03"/>
          <p:cNvSpPr/>
          <p:nvPr/>
        </p:nvSpPr>
        <p:spPr>
          <a:xfrm>
            <a:off x="17327880" y="9802368"/>
            <a:ext cx="457200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03</a:t>
            </a:r>
            <a:endParaRPr lang="zh-CN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23323D"/>
      </a:dk1>
      <a:lt1>
        <a:srgbClr val="FFFFFF"/>
      </a:lt1>
      <a:dk2>
        <a:srgbClr val="5C6974"/>
      </a:dk2>
      <a:lt2>
        <a:srgbClr val="F6F8FA"/>
      </a:lt2>
      <a:accent1>
        <a:srgbClr val="315F82"/>
      </a:accent1>
      <a:accent2>
        <a:srgbClr val="39766C"/>
      </a:accent2>
      <a:accent3>
        <a:srgbClr val="986344"/>
      </a:accent3>
      <a:accent4>
        <a:srgbClr val="8197A8"/>
      </a:accent4>
      <a:accent5>
        <a:srgbClr val="9CAFA3"/>
      </a:accent5>
      <a:accent6>
        <a:srgbClr val="BBA78D"/>
      </a:accent6>
      <a:hlink>
        <a:srgbClr val="315F82"/>
      </a:hlink>
      <a:folHlink>
        <a:srgbClr val="986344"/>
      </a:folHlink>
    </a:clrScheme>
    <a:fontScheme name="Academic">
      <a:majorFont>
        <a:latin typeface="Times New Roman"/>
        <a:ea typeface="宋体"/>
        <a:cs typeface="Times New Roman"/>
      </a:majorFont>
      <a:minorFont>
        <a:latin typeface="Times New Roman"/>
        <a:ea typeface="宋体"/>
        <a:cs typeface="Times New Roman"/>
      </a:minorFont>
    </a:fontScheme>
    <a:fmtScheme name="Academ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Editable Scientific Diagram</ns0:Application>
  <ns0:Slides>3</ns0:Slides>
  <ns0:PresentationFormat>Custom 16:9</ns0:PresentationFormat>
</ns0:Properties>
</file>

<file path=docProps/core.xml><?xml version="1.0" encoding="utf-8"?>
<cp:coreProperties xmlns:cp="http://schemas.openxmlformats.org/package/2006/metadata/core-properties" xmlns:dc="http://purl.org/dc/elements/1.1/">
  <dc:title>Attention-LSTM空中核心模型技术图</dc:title>
  <dc:creator>INTENTRA-X</dc:creator>
  <dc:description>Native editable shapes, text and connectors; verified against the 12-feature model.</dc:description>
</cp:coreProperties>
</file>