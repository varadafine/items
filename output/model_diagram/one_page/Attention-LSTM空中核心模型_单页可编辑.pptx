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core-properties" Target="docProps/core.xml" /><ns0:Relationship Id="rId3" Type="http://schemas.openxmlformats.org/officeDocument/2006/relationships/extended-properties" Target="docProps/app.xml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8288000" cy="10287000" type="custom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>
  <p:cSld name="Attention–LSTM空中核心模型技术路线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ttention–LSTM空中核心模型技术路线"/>
          <p:cNvSpPr/>
          <p:nvPr/>
        </p:nvSpPr>
        <p:spPr>
          <a:xfrm>
            <a:off x="502920" y="292608"/>
            <a:ext cx="17282160" cy="49377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5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Attention–LSTM空中核心模型技术路线</a:t>
            </a:r>
            <a:endParaRPr lang="zh-CN" sz="2500"/>
          </a:p>
        </p:txBody>
      </p:sp>
      <p:sp>
        <p:nvSpPr>
          <p:cNvPr id="3" name="20步历史窗口 · 12项飞行特征 · 动态特征门控 · 两层时序编码 · 未来"/>
          <p:cNvSpPr/>
          <p:nvPr/>
        </p:nvSpPr>
        <p:spPr>
          <a:xfrm>
            <a:off x="502920" y="868680"/>
            <a:ext cx="17282160" cy="29260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20步历史窗口 · 12项飞行特征 · 动态特征门控 · 两层时序编码 · 未来1 s风险预测</a:t>
            </a:r>
            <a:endParaRPr lang="zh-CN" sz="1300"/>
          </a:p>
        </p:txBody>
      </p:sp>
      <p:cxnSp>
        <p:nvCxnSpPr>
          <p:cNvPr id="4" name="连接线 4"/>
          <p:cNvCxnSpPr/>
          <p:nvPr/>
        </p:nvCxnSpPr>
        <p:spPr>
          <a:xfrm>
            <a:off x="502920" y="1307592"/>
            <a:ext cx="17282160" cy="1"/>
          </a:xfrm>
          <a:prstGeom prst="line">
            <a:avLst/>
          </a:prstGeom>
          <a:ln w="10160">
            <a:solidFill>
              <a:srgbClr val="CDD6DD"/>
            </a:solidFill>
          </a:ln>
        </p:spPr>
      </p:cxnSp>
      <p:sp>
        <p:nvSpPr>
          <p:cNvPr id="5" name="01  输入与标准化"/>
          <p:cNvSpPr/>
          <p:nvPr/>
        </p:nvSpPr>
        <p:spPr>
          <a:xfrm>
            <a:off x="640080" y="1856232"/>
            <a:ext cx="2377440" cy="32004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01  输入与标准化</a:t>
            </a:r>
            <a:endParaRPr lang="zh-CN" sz="1800"/>
          </a:p>
        </p:txBody>
      </p:sp>
      <p:sp>
        <p:nvSpPr>
          <p:cNvPr id="6" name="形状 6"/>
          <p:cNvSpPr/>
          <p:nvPr/>
        </p:nvSpPr>
        <p:spPr>
          <a:xfrm>
            <a:off x="640080" y="2377440"/>
            <a:ext cx="2377440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" name="02  特征级Attention"/>
          <p:cNvSpPr/>
          <p:nvPr/>
        </p:nvSpPr>
        <p:spPr>
          <a:xfrm>
            <a:off x="3611880" y="1856232"/>
            <a:ext cx="3291840" cy="32004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02  特征级Attention</a:t>
            </a:r>
            <a:endParaRPr lang="zh-CN" sz="1800"/>
          </a:p>
        </p:txBody>
      </p:sp>
      <p:sp>
        <p:nvSpPr>
          <p:cNvPr id="8" name="形状 8"/>
          <p:cNvSpPr/>
          <p:nvPr/>
        </p:nvSpPr>
        <p:spPr>
          <a:xfrm>
            <a:off x="3611880" y="2377440"/>
            <a:ext cx="3291840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" name="03  两层LSTM时序编码"/>
          <p:cNvSpPr/>
          <p:nvPr/>
        </p:nvSpPr>
        <p:spPr>
          <a:xfrm>
            <a:off x="7589520" y="1856232"/>
            <a:ext cx="5303520" cy="32004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03  两层LSTM时序编码</a:t>
            </a:r>
            <a:endParaRPr lang="zh-CN" sz="1800"/>
          </a:p>
        </p:txBody>
      </p:sp>
      <p:sp>
        <p:nvSpPr>
          <p:cNvPr id="10" name="形状 10"/>
          <p:cNvSpPr/>
          <p:nvPr/>
        </p:nvSpPr>
        <p:spPr>
          <a:xfrm>
            <a:off x="7589520" y="2377440"/>
            <a:ext cx="5303520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" name="04  风险输出层"/>
          <p:cNvSpPr/>
          <p:nvPr/>
        </p:nvSpPr>
        <p:spPr>
          <a:xfrm>
            <a:off x="13624560" y="1856232"/>
            <a:ext cx="4023360" cy="32004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04  风险输出层</a:t>
            </a:r>
            <a:endParaRPr lang="zh-CN" sz="1800"/>
          </a:p>
        </p:txBody>
      </p:sp>
      <p:sp>
        <p:nvSpPr>
          <p:cNvPr id="12" name="形状 12"/>
          <p:cNvSpPr/>
          <p:nvPr/>
        </p:nvSpPr>
        <p:spPr>
          <a:xfrm>
            <a:off x="13624560" y="2377440"/>
            <a:ext cx="4023360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" name="历史飞行记录"/>
          <p:cNvSpPr/>
          <p:nvPr/>
        </p:nvSpPr>
        <p:spPr>
          <a:xfrm>
            <a:off x="868680" y="2660904"/>
            <a:ext cx="1920240" cy="62179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历史飞行记录</a:t>
            </a:r>
            <a:endParaRPr lang="zh-CN" sz="1800"/>
          </a:p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20步 × 12项特征</a:t>
            </a:r>
            <a:endParaRPr lang="zh-CN" sz="1800"/>
          </a:p>
        </p:txBody>
      </p:sp>
      <p:cxnSp>
        <p:nvCxnSpPr>
          <p:cNvPr id="14" name="连接线 14"/>
          <p:cNvCxnSpPr/>
          <p:nvPr/>
        </p:nvCxnSpPr>
        <p:spPr>
          <a:xfrm>
            <a:off x="1828800" y="3300984"/>
            <a:ext cx="1" cy="173736"/>
          </a:xfrm>
          <a:prstGeom prst="line">
            <a:avLst/>
          </a:prstGeom>
          <a:ln w="15240">
            <a:solidFill>
              <a:srgbClr val="667785"/>
            </a:solidFill>
            <a:tailEnd type="triangle" w="sm" len="sm"/>
          </a:ln>
        </p:spPr>
      </p:cxnSp>
      <p:sp>
        <p:nvSpPr>
          <p:cNvPr id="15" name="Z-score标准化"/>
          <p:cNvSpPr/>
          <p:nvPr/>
        </p:nvSpPr>
        <p:spPr>
          <a:xfrm>
            <a:off x="868680" y="3474720"/>
            <a:ext cx="1920240" cy="640080"/>
          </a:xfrm>
          <a:prstGeom prst="rect">
            <a:avLst/>
          </a:prstGeom>
          <a:solidFill>
            <a:srgbClr val="F6F8FA"/>
          </a:solidFill>
          <a:ln w="11430">
            <a:solidFill>
              <a:srgbClr val="667785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Z-score标准化</a:t>
            </a:r>
            <a:endParaRPr lang="zh-CN" sz="1600"/>
          </a:p>
        </p:txBody>
      </p:sp>
      <p:sp>
        <p:nvSpPr>
          <p:cNvPr id="16" name="标准化序列"/>
          <p:cNvSpPr/>
          <p:nvPr/>
        </p:nvSpPr>
        <p:spPr>
          <a:xfrm>
            <a:off x="868680" y="4489704"/>
            <a:ext cx="1920240" cy="53035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标准化序列</a:t>
            </a:r>
            <a:endParaRPr lang="zh-CN" sz="1700"/>
          </a:p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X̂ ∈ R²⁰ˣ¹²</a:t>
            </a:r>
            <a:endParaRPr lang="zh-CN" sz="1700"/>
          </a:p>
        </p:txBody>
      </p:sp>
      <p:sp>
        <p:nvSpPr>
          <p:cNvPr id="17" name="复用训练集均值与标准差"/>
          <p:cNvSpPr/>
          <p:nvPr/>
        </p:nvSpPr>
        <p:spPr>
          <a:xfrm>
            <a:off x="868680" y="5166360"/>
            <a:ext cx="1920240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复用训练集均值与标准差</a:t>
            </a:r>
            <a:endParaRPr lang="zh-CN" sz="1100"/>
          </a:p>
        </p:txBody>
      </p:sp>
      <p:sp>
        <p:nvSpPr>
          <p:cNvPr id="18" name="Linear 12 → 16 + tanh"/>
          <p:cNvSpPr/>
          <p:nvPr/>
        </p:nvSpPr>
        <p:spPr>
          <a:xfrm>
            <a:off x="3877056" y="2926080"/>
            <a:ext cx="2761488" cy="58521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6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 12 → 16 + tanh</a:t>
            </a:r>
            <a:endParaRPr lang="zh-CN" sz="1600"/>
          </a:p>
        </p:txBody>
      </p:sp>
      <p:cxnSp>
        <p:nvCxnSpPr>
          <p:cNvPr id="19" name="连接线 19"/>
          <p:cNvCxnSpPr/>
          <p:nvPr/>
        </p:nvCxnSpPr>
        <p:spPr>
          <a:xfrm>
            <a:off x="5257800" y="3511296"/>
            <a:ext cx="1" cy="219456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0" name="Linear 16 → 12 + Sigmoid"/>
          <p:cNvSpPr/>
          <p:nvPr/>
        </p:nvSpPr>
        <p:spPr>
          <a:xfrm>
            <a:off x="3877056" y="3730752"/>
            <a:ext cx="2761488" cy="58521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5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 16 → 12 + Sigmoid</a:t>
            </a:r>
            <a:endParaRPr lang="zh-CN" sz="1500"/>
          </a:p>
        </p:txBody>
      </p:sp>
      <p:cxnSp>
        <p:nvCxnSpPr>
          <p:cNvPr id="21" name="连接线 21"/>
          <p:cNvCxnSpPr/>
          <p:nvPr/>
        </p:nvCxnSpPr>
        <p:spPr>
          <a:xfrm>
            <a:off x="5257800" y="4315968"/>
            <a:ext cx="1" cy="246888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2" name="逐特征加权"/>
          <p:cNvSpPr/>
          <p:nvPr/>
        </p:nvSpPr>
        <p:spPr>
          <a:xfrm>
            <a:off x="3877056" y="4562856"/>
            <a:ext cx="2761488" cy="65836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逐特征加权</a:t>
            </a:r>
            <a:endParaRPr lang="zh-CN" sz="1700"/>
          </a:p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xₖʷ = aₖ ⊙ x̂ₖ</a:t>
            </a:r>
            <a:endParaRPr lang="zh-CN" sz="1700"/>
          </a:p>
        </p:txBody>
      </p:sp>
      <p:cxnSp>
        <p:nvCxnSpPr>
          <p:cNvPr id="23" name="连接线 23"/>
          <p:cNvCxnSpPr/>
          <p:nvPr/>
        </p:nvCxnSpPr>
        <p:spPr>
          <a:xfrm>
            <a:off x="2788920" y="3794760"/>
            <a:ext cx="457200" cy="1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24" name="连接线 24"/>
          <p:cNvCxnSpPr/>
          <p:nvPr/>
        </p:nvCxnSpPr>
        <p:spPr>
          <a:xfrm flipV="1">
            <a:off x="3246120" y="3218688"/>
            <a:ext cx="1" cy="576072"/>
          </a:xfrm>
          <a:prstGeom prst="line">
            <a:avLst/>
          </a:prstGeom>
          <a:ln w="15240">
            <a:solidFill>
              <a:srgbClr val="667785"/>
            </a:solidFill>
          </a:ln>
        </p:spPr>
      </p:cxnSp>
      <p:cxnSp>
        <p:nvCxnSpPr>
          <p:cNvPr id="25" name="连接线 25"/>
          <p:cNvCxnSpPr/>
          <p:nvPr/>
        </p:nvCxnSpPr>
        <p:spPr>
          <a:xfrm>
            <a:off x="3246120" y="3218688"/>
            <a:ext cx="630936" cy="1"/>
          </a:xfrm>
          <a:prstGeom prst="line">
            <a:avLst/>
          </a:prstGeom>
          <a:ln w="15240">
            <a:solidFill>
              <a:srgbClr val="667785"/>
            </a:solidFill>
            <a:tailEnd type="triangle" w="sm" len="sm"/>
          </a:ln>
        </p:spPr>
      </p:cxnSp>
      <p:sp>
        <p:nvSpPr>
          <p:cNvPr id="26" name="aₖ：12项独立Sigmoid门控系数"/>
          <p:cNvSpPr/>
          <p:nvPr/>
        </p:nvSpPr>
        <p:spPr>
          <a:xfrm>
            <a:off x="3877056" y="5340096"/>
            <a:ext cx="2761488" cy="21945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aₖ：12项独立Sigmoid门控系数</a:t>
            </a:r>
            <a:endParaRPr lang="zh-CN" sz="1100"/>
          </a:p>
        </p:txBody>
      </p:sp>
      <p:sp>
        <p:nvSpPr>
          <p:cNvPr id="27" name="形状 27"/>
          <p:cNvSpPr/>
          <p:nvPr/>
        </p:nvSpPr>
        <p:spPr>
          <a:xfrm>
            <a:off x="7882128" y="4507992"/>
            <a:ext cx="4718304" cy="93268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" name="第1层LSTM：12 → 64"/>
          <p:cNvSpPr/>
          <p:nvPr/>
        </p:nvSpPr>
        <p:spPr>
          <a:xfrm>
            <a:off x="8019288" y="4572000"/>
            <a:ext cx="4434840" cy="26517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第1层LSTM：12 → 64</a:t>
            </a:r>
            <a:endParaRPr lang="zh-CN" sz="1700"/>
          </a:p>
        </p:txBody>
      </p:sp>
      <p:sp>
        <p:nvSpPr>
          <p:cNvPr id="29" name="遗忘门 fₖ"/>
          <p:cNvSpPr/>
          <p:nvPr/>
        </p:nvSpPr>
        <p:spPr>
          <a:xfrm>
            <a:off x="8046720" y="4956048"/>
            <a:ext cx="1005840" cy="33832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遗忘门 fₖ</a:t>
            </a:r>
            <a:endParaRPr lang="zh-CN" sz="1100"/>
          </a:p>
        </p:txBody>
      </p:sp>
      <p:sp>
        <p:nvSpPr>
          <p:cNvPr id="30" name="输入门 iₖ"/>
          <p:cNvSpPr/>
          <p:nvPr/>
        </p:nvSpPr>
        <p:spPr>
          <a:xfrm>
            <a:off x="9180576" y="4956048"/>
            <a:ext cx="1005840" cy="33832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输入门 iₖ</a:t>
            </a:r>
            <a:endParaRPr lang="zh-CN" sz="1100"/>
          </a:p>
        </p:txBody>
      </p:sp>
      <p:sp>
        <p:nvSpPr>
          <p:cNvPr id="31" name="候选记忆 gₖ"/>
          <p:cNvSpPr/>
          <p:nvPr/>
        </p:nvSpPr>
        <p:spPr>
          <a:xfrm>
            <a:off x="10314432" y="4956048"/>
            <a:ext cx="1005840" cy="33832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候选记忆 gₖ</a:t>
            </a:r>
            <a:endParaRPr lang="zh-CN" sz="1100"/>
          </a:p>
        </p:txBody>
      </p:sp>
      <p:sp>
        <p:nvSpPr>
          <p:cNvPr id="32" name="输出门 oₖ"/>
          <p:cNvSpPr/>
          <p:nvPr/>
        </p:nvSpPr>
        <p:spPr>
          <a:xfrm>
            <a:off x="11448288" y="4956048"/>
            <a:ext cx="1005840" cy="33832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输出门 oₖ</a:t>
            </a:r>
            <a:endParaRPr lang="zh-CN" sz="1100"/>
          </a:p>
        </p:txBody>
      </p:sp>
      <p:sp>
        <p:nvSpPr>
          <p:cNvPr id="33" name="形状 33"/>
          <p:cNvSpPr/>
          <p:nvPr/>
        </p:nvSpPr>
        <p:spPr>
          <a:xfrm>
            <a:off x="7882128" y="2926080"/>
            <a:ext cx="4718304" cy="93268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" name="第2层LSTM：64 → 64"/>
          <p:cNvSpPr/>
          <p:nvPr/>
        </p:nvSpPr>
        <p:spPr>
          <a:xfrm>
            <a:off x="8019288" y="2990088"/>
            <a:ext cx="4434840" cy="26517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第2层LSTM：64 → 64</a:t>
            </a:r>
            <a:endParaRPr lang="zh-CN" sz="1700"/>
          </a:p>
        </p:txBody>
      </p:sp>
      <p:sp>
        <p:nvSpPr>
          <p:cNvPr id="35" name="遗忘门 fₖ"/>
          <p:cNvSpPr/>
          <p:nvPr/>
        </p:nvSpPr>
        <p:spPr>
          <a:xfrm>
            <a:off x="8046720" y="3374136"/>
            <a:ext cx="1005840" cy="33832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遗忘门 fₖ</a:t>
            </a:r>
            <a:endParaRPr lang="zh-CN" sz="1100"/>
          </a:p>
        </p:txBody>
      </p:sp>
      <p:sp>
        <p:nvSpPr>
          <p:cNvPr id="36" name="输入门 iₖ"/>
          <p:cNvSpPr/>
          <p:nvPr/>
        </p:nvSpPr>
        <p:spPr>
          <a:xfrm>
            <a:off x="9180576" y="3374136"/>
            <a:ext cx="1005840" cy="33832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输入门 iₖ</a:t>
            </a:r>
            <a:endParaRPr lang="zh-CN" sz="1100"/>
          </a:p>
        </p:txBody>
      </p:sp>
      <p:sp>
        <p:nvSpPr>
          <p:cNvPr id="37" name="候选记忆 gₖ"/>
          <p:cNvSpPr/>
          <p:nvPr/>
        </p:nvSpPr>
        <p:spPr>
          <a:xfrm>
            <a:off x="10314432" y="3374136"/>
            <a:ext cx="1005840" cy="33832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候选记忆 gₖ</a:t>
            </a:r>
            <a:endParaRPr lang="zh-CN" sz="1100"/>
          </a:p>
        </p:txBody>
      </p:sp>
      <p:sp>
        <p:nvSpPr>
          <p:cNvPr id="38" name="输出门 oₖ"/>
          <p:cNvSpPr/>
          <p:nvPr/>
        </p:nvSpPr>
        <p:spPr>
          <a:xfrm>
            <a:off x="11448288" y="3374136"/>
            <a:ext cx="1005840" cy="33832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输出门 oₖ</a:t>
            </a:r>
            <a:endParaRPr lang="zh-CN" sz="1100"/>
          </a:p>
        </p:txBody>
      </p:sp>
      <p:cxnSp>
        <p:nvCxnSpPr>
          <p:cNvPr id="39" name="连接线 39"/>
          <p:cNvCxnSpPr/>
          <p:nvPr/>
        </p:nvCxnSpPr>
        <p:spPr>
          <a:xfrm>
            <a:off x="6638544" y="4892040"/>
            <a:ext cx="1243584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40" name="连接线 40"/>
          <p:cNvCxnSpPr/>
          <p:nvPr/>
        </p:nvCxnSpPr>
        <p:spPr>
          <a:xfrm flipV="1">
            <a:off x="10241280" y="3858768"/>
            <a:ext cx="1" cy="649224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41" name="层间Dropout 0.2"/>
          <p:cNvSpPr/>
          <p:nvPr/>
        </p:nvSpPr>
        <p:spPr>
          <a:xfrm>
            <a:off x="10469880" y="4087368"/>
            <a:ext cx="1920240" cy="28346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层间Dropout 0.2</a:t>
            </a:r>
            <a:endParaRPr lang="zh-CN" sz="1300"/>
          </a:p>
        </p:txBody>
      </p:sp>
      <p:sp>
        <p:nvSpPr>
          <p:cNvPr id="42" name="按时间顺序处理20步，更新记忆与隐藏状态"/>
          <p:cNvSpPr/>
          <p:nvPr/>
        </p:nvSpPr>
        <p:spPr>
          <a:xfrm>
            <a:off x="7882128" y="5852160"/>
            <a:ext cx="4718304" cy="28346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按时间顺序处理20步，更新记忆与隐藏状态</a:t>
            </a:r>
            <a:endParaRPr lang="zh-CN" sz="1300"/>
          </a:p>
        </p:txBody>
      </p:sp>
      <p:sp>
        <p:nvSpPr>
          <p:cNvPr id="43" name="Linear 64 → 32 + ReLU"/>
          <p:cNvSpPr/>
          <p:nvPr/>
        </p:nvSpPr>
        <p:spPr>
          <a:xfrm>
            <a:off x="13880592" y="2926080"/>
            <a:ext cx="3511296" cy="58521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 64 → 32 + ReLU</a:t>
            </a:r>
            <a:endParaRPr lang="zh-CN" sz="1700"/>
          </a:p>
        </p:txBody>
      </p:sp>
      <p:cxnSp>
        <p:nvCxnSpPr>
          <p:cNvPr id="44" name="连接线 44"/>
          <p:cNvCxnSpPr/>
          <p:nvPr/>
        </p:nvCxnSpPr>
        <p:spPr>
          <a:xfrm>
            <a:off x="15636240" y="3511296"/>
            <a:ext cx="1" cy="228600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45" name="Dropout 0.3"/>
          <p:cNvSpPr/>
          <p:nvPr/>
        </p:nvSpPr>
        <p:spPr>
          <a:xfrm>
            <a:off x="13880592" y="3739896"/>
            <a:ext cx="3511296" cy="448056"/>
          </a:xfrm>
          <a:prstGeom prst="rect">
            <a:avLst/>
          </a:prstGeom>
          <a:solidFill>
            <a:srgbClr val="F6F8FA"/>
          </a:solidFill>
          <a:ln w="11430">
            <a:solidFill>
              <a:srgbClr val="667785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5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Dropout 0.3</a:t>
            </a:r>
            <a:endParaRPr lang="zh-CN" sz="1500"/>
          </a:p>
        </p:txBody>
      </p:sp>
      <p:cxnSp>
        <p:nvCxnSpPr>
          <p:cNvPr id="46" name="连接线 46"/>
          <p:cNvCxnSpPr/>
          <p:nvPr/>
        </p:nvCxnSpPr>
        <p:spPr>
          <a:xfrm>
            <a:off x="15636240" y="4187952"/>
            <a:ext cx="1" cy="374904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47" name="Linear 32 → 1 + Sigmoid"/>
          <p:cNvSpPr/>
          <p:nvPr/>
        </p:nvSpPr>
        <p:spPr>
          <a:xfrm>
            <a:off x="13880592" y="4562856"/>
            <a:ext cx="3511296" cy="658368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7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Linear 32 → 1 + Sigmoid</a:t>
            </a:r>
            <a:endParaRPr lang="zh-CN" sz="1700"/>
          </a:p>
        </p:txBody>
      </p:sp>
      <p:cxnSp>
        <p:nvCxnSpPr>
          <p:cNvPr id="48" name="连接线 48"/>
          <p:cNvCxnSpPr/>
          <p:nvPr/>
        </p:nvCxnSpPr>
        <p:spPr>
          <a:xfrm>
            <a:off x="12600432" y="3392424"/>
            <a:ext cx="1280160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49" name="r = h₂₀⁽²⁾"/>
          <p:cNvSpPr/>
          <p:nvPr/>
        </p:nvSpPr>
        <p:spPr>
          <a:xfrm>
            <a:off x="12646152" y="2532888"/>
            <a:ext cx="1197864" cy="40233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r = h₂₀⁽²⁾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64维</a:t>
            </a:r>
            <a:endParaRPr lang="zh-CN" sz="1300"/>
          </a:p>
        </p:txBody>
      </p:sp>
      <p:sp>
        <p:nvSpPr>
          <p:cNvPr id="50" name="Dropout仅在训练时启用"/>
          <p:cNvSpPr/>
          <p:nvPr/>
        </p:nvSpPr>
        <p:spPr>
          <a:xfrm>
            <a:off x="13624560" y="5852160"/>
            <a:ext cx="4023360" cy="28346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Dropout仅在训练时启用</a:t>
            </a:r>
            <a:endParaRPr lang="zh-CN" sz="1300"/>
          </a:p>
        </p:txBody>
      </p:sp>
      <p:sp>
        <p:nvSpPr>
          <p:cNvPr id="51" name="解释输出"/>
          <p:cNvSpPr/>
          <p:nvPr/>
        </p:nvSpPr>
        <p:spPr>
          <a:xfrm>
            <a:off x="3611880" y="6629400"/>
            <a:ext cx="3291840" cy="950976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解释输出</a:t>
            </a:r>
            <a:endParaRPr lang="zh-CN" sz="1800"/>
          </a:p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12项平均门控值 Aⱼ</a:t>
            </a:r>
            <a:endParaRPr lang="zh-CN" sz="1800"/>
          </a:p>
        </p:txBody>
      </p:sp>
      <p:cxnSp>
        <p:nvCxnSpPr>
          <p:cNvPr id="52" name="连接线 52"/>
          <p:cNvCxnSpPr/>
          <p:nvPr/>
        </p:nvCxnSpPr>
        <p:spPr>
          <a:xfrm>
            <a:off x="6638544" y="4023360"/>
            <a:ext cx="457200" cy="1"/>
          </a:xfrm>
          <a:prstGeom prst="line">
            <a:avLst/>
          </a:prstGeom>
          <a:ln w="15240">
            <a:solidFill>
              <a:srgbClr val="986344"/>
            </a:solidFill>
            <a:prstDash val="dash"/>
          </a:ln>
        </p:spPr>
      </p:cxnSp>
      <p:cxnSp>
        <p:nvCxnSpPr>
          <p:cNvPr id="53" name="连接线 53"/>
          <p:cNvCxnSpPr/>
          <p:nvPr/>
        </p:nvCxnSpPr>
        <p:spPr>
          <a:xfrm>
            <a:off x="7095744" y="4023360"/>
            <a:ext cx="1" cy="3081528"/>
          </a:xfrm>
          <a:prstGeom prst="line">
            <a:avLst/>
          </a:prstGeom>
          <a:ln w="15240">
            <a:solidFill>
              <a:srgbClr val="986344"/>
            </a:solidFill>
            <a:prstDash val="dash"/>
          </a:ln>
        </p:spPr>
      </p:cxnSp>
      <p:cxnSp>
        <p:nvCxnSpPr>
          <p:cNvPr id="54" name="连接线 54"/>
          <p:cNvCxnSpPr/>
          <p:nvPr/>
        </p:nvCxnSpPr>
        <p:spPr>
          <a:xfrm flipH="1">
            <a:off x="6903720" y="7104888"/>
            <a:ext cx="192024" cy="1"/>
          </a:xfrm>
          <a:prstGeom prst="line">
            <a:avLst/>
          </a:prstGeom>
          <a:ln w="15240">
            <a:solidFill>
              <a:srgbClr val="986344"/>
            </a:solidFill>
            <a:prstDash val="dash"/>
            <a:tailEnd type="triangle" w="sm" len="sm"/>
          </a:ln>
        </p:spPr>
      </p:cxnSp>
      <p:sp>
        <p:nvSpPr>
          <p:cNvPr id="55" name="对20步门控系数求平均"/>
          <p:cNvSpPr/>
          <p:nvPr/>
        </p:nvSpPr>
        <p:spPr>
          <a:xfrm>
            <a:off x="3611880" y="7754112"/>
            <a:ext cx="3291840" cy="28346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986344"/>
                </a:solidFill>
                <a:latin typeface="Times New Roman"/>
                <a:ea typeface="宋体"/>
                <a:cs typeface="Times New Roman"/>
              </a:rPr>
              <a:t>对20步门控系数求平均</a:t>
            </a:r>
            <a:endParaRPr lang="zh-CN" sz="1300"/>
          </a:p>
        </p:txBody>
      </p:sp>
      <p:sp>
        <p:nvSpPr>
          <p:cNvPr id="56" name="风险输出 pₜ ∈ [0,1]"/>
          <p:cNvSpPr/>
          <p:nvPr/>
        </p:nvSpPr>
        <p:spPr>
          <a:xfrm>
            <a:off x="13624560" y="6629400"/>
            <a:ext cx="4023360" cy="95097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风险输出 pₜ ∈ [0,1]</a:t>
            </a:r>
            <a:endParaRPr lang="zh-CN" sz="1800"/>
          </a:p>
          <a:p>
            <a:pPr algn="ctr">
              <a:lnSpc>
                <a:spcPct val="105000"/>
              </a:lnSpc>
            </a:pPr>
            <a:r>
              <a:rPr lang="zh-CN" sz="18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未来1 s内障碍物碰撞风险</a:t>
            </a:r>
            <a:endParaRPr lang="zh-CN" sz="1800"/>
          </a:p>
        </p:txBody>
      </p:sp>
      <p:cxnSp>
        <p:nvCxnSpPr>
          <p:cNvPr id="57" name="连接线 57"/>
          <p:cNvCxnSpPr/>
          <p:nvPr/>
        </p:nvCxnSpPr>
        <p:spPr>
          <a:xfrm>
            <a:off x="15636240" y="5221224"/>
            <a:ext cx="1" cy="1408176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58" name="连接线 58"/>
          <p:cNvCxnSpPr/>
          <p:nvPr/>
        </p:nvCxnSpPr>
        <p:spPr>
          <a:xfrm>
            <a:off x="640080" y="8449056"/>
            <a:ext cx="17007840" cy="1"/>
          </a:xfrm>
          <a:prstGeom prst="line">
            <a:avLst/>
          </a:prstGeom>
          <a:ln w="10160">
            <a:solidFill>
              <a:srgbClr val="CDD6DD"/>
            </a:solidFill>
          </a:ln>
        </p:spPr>
      </p:cxnSp>
      <p:sp>
        <p:nvSpPr>
          <p:cNvPr id="59" name="输入特征：高度、三轴速度、合速度、横滚、俯仰、风速、风向sin/cos、障碍物距"/>
          <p:cNvSpPr/>
          <p:nvPr/>
        </p:nvSpPr>
        <p:spPr>
          <a:xfrm>
            <a:off x="685800" y="8659368"/>
            <a:ext cx="16916400" cy="39319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输入特征：高度、三轴速度、合速度、横滚、俯仰、风速、风向sin/cos、障碍物距离、障碍物检测标志。</a:t>
            </a:r>
            <a:endParaRPr lang="zh-CN" sz="1400"/>
          </a:p>
        </p:txBody>
      </p:sp>
      <p:sp>
        <p:nvSpPr>
          <p:cNvPr id="60" name="⊙ 表示逐元素相乘；特征门控与LSTM内部门控分别学习。平均门控值反映输入保留程"/>
          <p:cNvSpPr/>
          <p:nvPr/>
        </p:nvSpPr>
        <p:spPr>
          <a:xfrm>
            <a:off x="685800" y="9144000"/>
            <a:ext cx="16916400" cy="39319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⊙ 表示逐元素相乘；特征门控与LSTM内部门控分别学习。平均门控值反映输入保留程度。</a:t>
            </a:r>
            <a:endParaRPr lang="zh-CN" sz="1300"/>
          </a:p>
        </p:txBody>
      </p:sp>
      <p:sp>
        <p:nvSpPr>
          <p:cNvPr id="61" name="模型依据：FeatureAttentionRiskLSTM · 12特征实验 ·"/>
          <p:cNvSpPr/>
          <p:nvPr/>
        </p:nvSpPr>
        <p:spPr>
          <a:xfrm>
            <a:off x="530352" y="9829800"/>
            <a:ext cx="16276320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模型依据：FeatureAttentionRiskLSTM · 12特征实验 · L = 20，H = 64</a:t>
            </a:r>
            <a:endParaRPr lang="zh-CN" sz="1000"/>
          </a:p>
        </p:txBody>
      </p:sp>
      <p:sp>
        <p:nvSpPr>
          <p:cNvPr id="62" name="01"/>
          <p:cNvSpPr/>
          <p:nvPr/>
        </p:nvSpPr>
        <p:spPr>
          <a:xfrm>
            <a:off x="17327880" y="9802368"/>
            <a:ext cx="457200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r">
              <a:lnSpc>
                <a:spcPct val="105000"/>
              </a:lnSpc>
            </a:pPr>
            <a:r>
              <a:rPr lang="zh-CN" sz="11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01</a:t>
            </a:r>
            <a:endParaRPr lang="zh-CN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23323D"/>
      </a:dk1>
      <a:lt1>
        <a:srgbClr val="FFFFFF"/>
      </a:lt1>
      <a:dk2>
        <a:srgbClr val="5C6974"/>
      </a:dk2>
      <a:lt2>
        <a:srgbClr val="F6F8FA"/>
      </a:lt2>
      <a:accent1>
        <a:srgbClr val="315F82"/>
      </a:accent1>
      <a:accent2>
        <a:srgbClr val="39766C"/>
      </a:accent2>
      <a:accent3>
        <a:srgbClr val="986344"/>
      </a:accent3>
      <a:accent4>
        <a:srgbClr val="8197A8"/>
      </a:accent4>
      <a:accent5>
        <a:srgbClr val="9CAFA3"/>
      </a:accent5>
      <a:accent6>
        <a:srgbClr val="BBA78D"/>
      </a:accent6>
      <a:hlink>
        <a:srgbClr val="315F82"/>
      </a:hlink>
      <a:folHlink>
        <a:srgbClr val="986344"/>
      </a:folHlink>
    </a:clrScheme>
    <a:fontScheme name="Academic">
      <a:majorFont>
        <a:latin typeface="Times New Roman"/>
        <a:ea typeface="宋体"/>
        <a:cs typeface="Times New Roman"/>
      </a:majorFont>
      <a:minorFont>
        <a:latin typeface="Times New Roman"/>
        <a:ea typeface="宋体"/>
        <a:cs typeface="Times New Roman"/>
      </a:minorFont>
    </a:fontScheme>
    <a:fmtScheme name="Academ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Editable Scientific Diagram</ns0:Application>
  <ns0:Slides>1</ns0:Slides>
  <ns0:PresentationFormat>Custom 16:9</ns0:PresentationFormat>
</ns0:Properties>
</file>

<file path=docProps/core.xml><?xml version="1.0" encoding="utf-8"?>
<cp:coreProperties xmlns:cp="http://schemas.openxmlformats.org/package/2006/metadata/core-properties" xmlns:dc="http://purl.org/dc/elements/1.1/">
  <dc:title>Attention-LSTM空中核心模型技术图</dc:title>
  <dc:creator>INTENTRA-X</dc:creator>
  <dc:description>Native editable shapes, text and connectors; verified against the 12-feature model.</dc:description>
</cp:coreProperties>
</file>