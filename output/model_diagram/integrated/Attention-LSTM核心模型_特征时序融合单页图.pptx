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officeDocument/2006/relationships/extended-properties" Target="docProps/app.xml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8288000" cy="10287000" type="custom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>
  <p:cSld name="Attention–LSTM空中核心模型：特征门控与时序编码联合结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ttention–LSTM空中核心模型：特征门控与时序编码联合结构"/>
          <p:cNvSpPr/>
          <p:nvPr/>
        </p:nvSpPr>
        <p:spPr>
          <a:xfrm>
            <a:off x="502920" y="201168"/>
            <a:ext cx="17282160" cy="4389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24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Attention–LSTM空中核心模型：特征门控与时序编码联合结构</a:t>
            </a:r>
            <a:endParaRPr lang="zh-CN" sz="2400"/>
          </a:p>
        </p:txBody>
      </p:sp>
      <p:sp>
        <p:nvSpPr>
          <p:cNvPr id="3" name="每个时间步先进行特征加权，再进入两层LSTM；门控系数同时汇总为解释输出"/>
          <p:cNvSpPr/>
          <p:nvPr/>
        </p:nvSpPr>
        <p:spPr>
          <a:xfrm>
            <a:off x="502920" y="722376"/>
            <a:ext cx="17282160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每个时间步先进行特征加权，再进入两层LSTM；门控系数同时汇总为解释输出</a:t>
            </a:r>
            <a:endParaRPr lang="zh-CN" sz="1300"/>
          </a:p>
        </p:txBody>
      </p:sp>
      <p:cxnSp>
        <p:nvCxnSpPr>
          <p:cNvPr id="4" name="连接线 4"/>
          <p:cNvCxnSpPr/>
          <p:nvPr/>
        </p:nvCxnSpPr>
        <p:spPr>
          <a:xfrm>
            <a:off x="502920" y="996696"/>
            <a:ext cx="17282160" cy="1"/>
          </a:xfrm>
          <a:prstGeom prst="line">
            <a:avLst/>
          </a:prstGeom>
          <a:ln w="10160">
            <a:solidFill>
              <a:srgbClr val="CDD6DD"/>
            </a:solidFill>
          </a:ln>
        </p:spPr>
      </p:cxnSp>
      <p:sp>
        <p:nvSpPr>
          <p:cNvPr id="5" name="形状 5"/>
          <p:cNvSpPr/>
          <p:nvPr/>
        </p:nvSpPr>
        <p:spPr>
          <a:xfrm>
            <a:off x="502920" y="1143000"/>
            <a:ext cx="17282160" cy="5998464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" name="(a) 联合计算链路：标准化状态 → 共享特征门控 → 两层时间递推 → 风险与"/>
          <p:cNvSpPr/>
          <p:nvPr/>
        </p:nvSpPr>
        <p:spPr>
          <a:xfrm>
            <a:off x="667512" y="1234440"/>
            <a:ext cx="1695297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(a) 联合计算链路：标准化状态 → 共享特征门控 → 两层时间递推 → 风险与解释输出</a:t>
            </a:r>
            <a:endParaRPr lang="zh-CN" sz="1600"/>
          </a:p>
        </p:txBody>
      </p:sp>
      <p:cxnSp>
        <p:nvCxnSpPr>
          <p:cNvPr id="7" name="连接线 7"/>
          <p:cNvCxnSpPr/>
          <p:nvPr/>
        </p:nvCxnSpPr>
        <p:spPr>
          <a:xfrm>
            <a:off x="667512" y="1627632"/>
            <a:ext cx="1695297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8" name="时间步 k = 1"/>
          <p:cNvSpPr/>
          <p:nvPr/>
        </p:nvSpPr>
        <p:spPr>
          <a:xfrm>
            <a:off x="2651760" y="1810512"/>
            <a:ext cx="1298448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1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时间步 k = 1</a:t>
            </a:r>
            <a:endParaRPr lang="zh-CN" sz="1300"/>
          </a:p>
        </p:txBody>
      </p:sp>
      <p:sp>
        <p:nvSpPr>
          <p:cNvPr id="9" name="时间步 k = 2"/>
          <p:cNvSpPr/>
          <p:nvPr/>
        </p:nvSpPr>
        <p:spPr>
          <a:xfrm>
            <a:off x="5394960" y="1810512"/>
            <a:ext cx="1298448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1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时间步 k = 2</a:t>
            </a:r>
            <a:endParaRPr lang="zh-CN" sz="1300"/>
          </a:p>
        </p:txBody>
      </p:sp>
      <p:sp>
        <p:nvSpPr>
          <p:cNvPr id="10" name="时间步 k = 19"/>
          <p:cNvSpPr/>
          <p:nvPr/>
        </p:nvSpPr>
        <p:spPr>
          <a:xfrm>
            <a:off x="9098280" y="1810512"/>
            <a:ext cx="1298448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1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时间步 k = 19</a:t>
            </a:r>
            <a:endParaRPr lang="zh-CN" sz="1300"/>
          </a:p>
        </p:txBody>
      </p:sp>
      <p:sp>
        <p:nvSpPr>
          <p:cNvPr id="11" name="时间步 k = 20"/>
          <p:cNvSpPr/>
          <p:nvPr/>
        </p:nvSpPr>
        <p:spPr>
          <a:xfrm>
            <a:off x="11795760" y="1810512"/>
            <a:ext cx="1298448" cy="25603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1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时间步 k = 20</a:t>
            </a:r>
            <a:endParaRPr lang="zh-CN" sz="1300"/>
          </a:p>
        </p:txBody>
      </p:sp>
      <p:sp>
        <p:nvSpPr>
          <p:cNvPr id="12" name="⋯"/>
          <p:cNvSpPr/>
          <p:nvPr/>
        </p:nvSpPr>
        <p:spPr>
          <a:xfrm>
            <a:off x="7562088" y="1837944"/>
            <a:ext cx="685800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2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⋯</a:t>
            </a:r>
            <a:endParaRPr lang="zh-CN" sz="2000"/>
          </a:p>
        </p:txBody>
      </p:sp>
      <p:sp>
        <p:nvSpPr>
          <p:cNvPr id="13" name="第2层LSTM"/>
          <p:cNvSpPr/>
          <p:nvPr/>
        </p:nvSpPr>
        <p:spPr>
          <a:xfrm>
            <a:off x="667512" y="2450592"/>
            <a:ext cx="1408176" cy="4572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第2层LSTM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隐藏维度64</a:t>
            </a:r>
            <a:endParaRPr lang="zh-CN" sz="1200"/>
          </a:p>
        </p:txBody>
      </p:sp>
      <p:sp>
        <p:nvSpPr>
          <p:cNvPr id="14" name="第1层LSTM"/>
          <p:cNvSpPr/>
          <p:nvPr/>
        </p:nvSpPr>
        <p:spPr>
          <a:xfrm>
            <a:off x="667512" y="3648456"/>
            <a:ext cx="1408176" cy="4572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第1层LSTM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1" i="0">
                <a:solidFill>
                  <a:srgbClr val="39766C"/>
                </a:solidFill>
                <a:latin typeface="Times New Roman"/>
                <a:ea typeface="宋体"/>
                <a:cs typeface="Times New Roman"/>
              </a:rPr>
              <a:t>隐藏维度64</a:t>
            </a:r>
            <a:endParaRPr lang="zh-CN" sz="1200"/>
          </a:p>
        </p:txBody>
      </p:sp>
      <p:sp>
        <p:nvSpPr>
          <p:cNvPr id="15" name="特征门控"/>
          <p:cNvSpPr/>
          <p:nvPr/>
        </p:nvSpPr>
        <p:spPr>
          <a:xfrm>
            <a:off x="667512" y="5001768"/>
            <a:ext cx="1325880" cy="4297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特征门控</a:t>
            </a:r>
            <a:endParaRPr lang="zh-CN" sz="1100"/>
          </a:p>
          <a:p>
            <a:pPr algn="ctr">
              <a:lnSpc>
                <a:spcPct val="105000"/>
              </a:lnSpc>
            </a:pPr>
            <a:r>
              <a:rPr lang="zh-CN" sz="1100" b="1" i="0">
                <a:solidFill>
                  <a:srgbClr val="315F82"/>
                </a:solidFill>
                <a:latin typeface="Times New Roman"/>
                <a:ea typeface="宋体"/>
                <a:cs typeface="Times New Roman"/>
              </a:rPr>
              <a:t>各时刻共享参数</a:t>
            </a:r>
            <a:endParaRPr lang="zh-CN" sz="1100"/>
          </a:p>
        </p:txBody>
      </p:sp>
      <p:sp>
        <p:nvSpPr>
          <p:cNvPr id="16" name="形状 16"/>
          <p:cNvSpPr/>
          <p:nvPr/>
        </p:nvSpPr>
        <p:spPr>
          <a:xfrm>
            <a:off x="768096" y="550468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" name="形状 17"/>
          <p:cNvSpPr/>
          <p:nvPr/>
        </p:nvSpPr>
        <p:spPr>
          <a:xfrm>
            <a:off x="861060" y="550468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" name="形状 18"/>
          <p:cNvSpPr/>
          <p:nvPr/>
        </p:nvSpPr>
        <p:spPr>
          <a:xfrm>
            <a:off x="954024" y="5504688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" name="形状 19"/>
          <p:cNvSpPr/>
          <p:nvPr/>
        </p:nvSpPr>
        <p:spPr>
          <a:xfrm>
            <a:off x="1046988" y="5504688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" name="形状 20"/>
          <p:cNvSpPr/>
          <p:nvPr/>
        </p:nvSpPr>
        <p:spPr>
          <a:xfrm>
            <a:off x="1139952" y="5504688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" name="形状 21"/>
          <p:cNvSpPr/>
          <p:nvPr/>
        </p:nvSpPr>
        <p:spPr>
          <a:xfrm>
            <a:off x="1232916" y="550468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" name="形状 22"/>
          <p:cNvSpPr/>
          <p:nvPr/>
        </p:nvSpPr>
        <p:spPr>
          <a:xfrm>
            <a:off x="1325880" y="550468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" name="形状 23"/>
          <p:cNvSpPr/>
          <p:nvPr/>
        </p:nvSpPr>
        <p:spPr>
          <a:xfrm>
            <a:off x="1418844" y="5504688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" name="形状 24"/>
          <p:cNvSpPr/>
          <p:nvPr/>
        </p:nvSpPr>
        <p:spPr>
          <a:xfrm>
            <a:off x="1511808" y="5504688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" name="形状 25"/>
          <p:cNvSpPr/>
          <p:nvPr/>
        </p:nvSpPr>
        <p:spPr>
          <a:xfrm>
            <a:off x="1604772" y="5504688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" name="形状 26"/>
          <p:cNvSpPr/>
          <p:nvPr/>
        </p:nvSpPr>
        <p:spPr>
          <a:xfrm>
            <a:off x="1697736" y="550468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7" name="形状 27"/>
          <p:cNvSpPr/>
          <p:nvPr/>
        </p:nvSpPr>
        <p:spPr>
          <a:xfrm>
            <a:off x="1790700" y="550468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8" name="形状 28"/>
          <p:cNvSpPr/>
          <p:nvPr/>
        </p:nvSpPr>
        <p:spPr>
          <a:xfrm>
            <a:off x="768096" y="555589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9" name="形状 29"/>
          <p:cNvSpPr/>
          <p:nvPr/>
        </p:nvSpPr>
        <p:spPr>
          <a:xfrm>
            <a:off x="861060" y="555589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0" name="形状 30"/>
          <p:cNvSpPr/>
          <p:nvPr/>
        </p:nvSpPr>
        <p:spPr>
          <a:xfrm>
            <a:off x="954024" y="5555894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1" name="形状 31"/>
          <p:cNvSpPr/>
          <p:nvPr/>
        </p:nvSpPr>
        <p:spPr>
          <a:xfrm>
            <a:off x="1046988" y="5555894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" name="形状 32"/>
          <p:cNvSpPr/>
          <p:nvPr/>
        </p:nvSpPr>
        <p:spPr>
          <a:xfrm>
            <a:off x="1139952" y="5555894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3" name="形状 33"/>
          <p:cNvSpPr/>
          <p:nvPr/>
        </p:nvSpPr>
        <p:spPr>
          <a:xfrm>
            <a:off x="1232916" y="555589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" name="形状 34"/>
          <p:cNvSpPr/>
          <p:nvPr/>
        </p:nvSpPr>
        <p:spPr>
          <a:xfrm>
            <a:off x="1325880" y="555589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5" name="形状 35"/>
          <p:cNvSpPr/>
          <p:nvPr/>
        </p:nvSpPr>
        <p:spPr>
          <a:xfrm>
            <a:off x="1418844" y="5555894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6" name="形状 36"/>
          <p:cNvSpPr/>
          <p:nvPr/>
        </p:nvSpPr>
        <p:spPr>
          <a:xfrm>
            <a:off x="1511808" y="5555894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7" name="形状 37"/>
          <p:cNvSpPr/>
          <p:nvPr/>
        </p:nvSpPr>
        <p:spPr>
          <a:xfrm>
            <a:off x="1604772" y="5555894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" name="形状 38"/>
          <p:cNvSpPr/>
          <p:nvPr/>
        </p:nvSpPr>
        <p:spPr>
          <a:xfrm>
            <a:off x="1697736" y="555589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9" name="形状 39"/>
          <p:cNvSpPr/>
          <p:nvPr/>
        </p:nvSpPr>
        <p:spPr>
          <a:xfrm>
            <a:off x="1790700" y="555589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" name="形状 40"/>
          <p:cNvSpPr/>
          <p:nvPr/>
        </p:nvSpPr>
        <p:spPr>
          <a:xfrm>
            <a:off x="768096" y="5607101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1" name="形状 41"/>
          <p:cNvSpPr/>
          <p:nvPr/>
        </p:nvSpPr>
        <p:spPr>
          <a:xfrm>
            <a:off x="861060" y="5607101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2" name="形状 42"/>
          <p:cNvSpPr/>
          <p:nvPr/>
        </p:nvSpPr>
        <p:spPr>
          <a:xfrm>
            <a:off x="954024" y="5607101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3" name="形状 43"/>
          <p:cNvSpPr/>
          <p:nvPr/>
        </p:nvSpPr>
        <p:spPr>
          <a:xfrm>
            <a:off x="1046988" y="5607101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4" name="形状 44"/>
          <p:cNvSpPr/>
          <p:nvPr/>
        </p:nvSpPr>
        <p:spPr>
          <a:xfrm>
            <a:off x="1139952" y="5607101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5" name="形状 45"/>
          <p:cNvSpPr/>
          <p:nvPr/>
        </p:nvSpPr>
        <p:spPr>
          <a:xfrm>
            <a:off x="1232916" y="5607101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6" name="形状 46"/>
          <p:cNvSpPr/>
          <p:nvPr/>
        </p:nvSpPr>
        <p:spPr>
          <a:xfrm>
            <a:off x="1325880" y="5607101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7" name="形状 47"/>
          <p:cNvSpPr/>
          <p:nvPr/>
        </p:nvSpPr>
        <p:spPr>
          <a:xfrm>
            <a:off x="1418844" y="5607101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8" name="形状 48"/>
          <p:cNvSpPr/>
          <p:nvPr/>
        </p:nvSpPr>
        <p:spPr>
          <a:xfrm>
            <a:off x="1511808" y="5607101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9" name="形状 49"/>
          <p:cNvSpPr/>
          <p:nvPr/>
        </p:nvSpPr>
        <p:spPr>
          <a:xfrm>
            <a:off x="1604772" y="5607101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0" name="形状 50"/>
          <p:cNvSpPr/>
          <p:nvPr/>
        </p:nvSpPr>
        <p:spPr>
          <a:xfrm>
            <a:off x="1697736" y="5607101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1" name="形状 51"/>
          <p:cNvSpPr/>
          <p:nvPr/>
        </p:nvSpPr>
        <p:spPr>
          <a:xfrm>
            <a:off x="1790700" y="5607101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2" name="形状 52"/>
          <p:cNvSpPr/>
          <p:nvPr/>
        </p:nvSpPr>
        <p:spPr>
          <a:xfrm>
            <a:off x="768096" y="5658307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3" name="形状 53"/>
          <p:cNvSpPr/>
          <p:nvPr/>
        </p:nvSpPr>
        <p:spPr>
          <a:xfrm>
            <a:off x="861060" y="5658307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4" name="形状 54"/>
          <p:cNvSpPr/>
          <p:nvPr/>
        </p:nvSpPr>
        <p:spPr>
          <a:xfrm>
            <a:off x="954024" y="5658307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5" name="形状 55"/>
          <p:cNvSpPr/>
          <p:nvPr/>
        </p:nvSpPr>
        <p:spPr>
          <a:xfrm>
            <a:off x="1046988" y="5658307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6" name="形状 56"/>
          <p:cNvSpPr/>
          <p:nvPr/>
        </p:nvSpPr>
        <p:spPr>
          <a:xfrm>
            <a:off x="1139952" y="5658307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7" name="形状 57"/>
          <p:cNvSpPr/>
          <p:nvPr/>
        </p:nvSpPr>
        <p:spPr>
          <a:xfrm>
            <a:off x="1232916" y="5658307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8" name="形状 58"/>
          <p:cNvSpPr/>
          <p:nvPr/>
        </p:nvSpPr>
        <p:spPr>
          <a:xfrm>
            <a:off x="1325880" y="5658307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59" name="形状 59"/>
          <p:cNvSpPr/>
          <p:nvPr/>
        </p:nvSpPr>
        <p:spPr>
          <a:xfrm>
            <a:off x="1418844" y="5658307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0" name="形状 60"/>
          <p:cNvSpPr/>
          <p:nvPr/>
        </p:nvSpPr>
        <p:spPr>
          <a:xfrm>
            <a:off x="1511808" y="5658307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1" name="形状 61"/>
          <p:cNvSpPr/>
          <p:nvPr/>
        </p:nvSpPr>
        <p:spPr>
          <a:xfrm>
            <a:off x="1604772" y="5658307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2" name="形状 62"/>
          <p:cNvSpPr/>
          <p:nvPr/>
        </p:nvSpPr>
        <p:spPr>
          <a:xfrm>
            <a:off x="1697736" y="5658307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3" name="形状 63"/>
          <p:cNvSpPr/>
          <p:nvPr/>
        </p:nvSpPr>
        <p:spPr>
          <a:xfrm>
            <a:off x="1790700" y="5658307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4" name="形状 64"/>
          <p:cNvSpPr/>
          <p:nvPr/>
        </p:nvSpPr>
        <p:spPr>
          <a:xfrm>
            <a:off x="768096" y="570951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5" name="形状 65"/>
          <p:cNvSpPr/>
          <p:nvPr/>
        </p:nvSpPr>
        <p:spPr>
          <a:xfrm>
            <a:off x="861060" y="570951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6" name="形状 66"/>
          <p:cNvSpPr/>
          <p:nvPr/>
        </p:nvSpPr>
        <p:spPr>
          <a:xfrm>
            <a:off x="954024" y="5709514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7" name="形状 67"/>
          <p:cNvSpPr/>
          <p:nvPr/>
        </p:nvSpPr>
        <p:spPr>
          <a:xfrm>
            <a:off x="1046988" y="5709514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8" name="形状 68"/>
          <p:cNvSpPr/>
          <p:nvPr/>
        </p:nvSpPr>
        <p:spPr>
          <a:xfrm>
            <a:off x="1139952" y="5709514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69" name="形状 69"/>
          <p:cNvSpPr/>
          <p:nvPr/>
        </p:nvSpPr>
        <p:spPr>
          <a:xfrm>
            <a:off x="1232916" y="570951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0" name="形状 70"/>
          <p:cNvSpPr/>
          <p:nvPr/>
        </p:nvSpPr>
        <p:spPr>
          <a:xfrm>
            <a:off x="1325880" y="570951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1" name="形状 71"/>
          <p:cNvSpPr/>
          <p:nvPr/>
        </p:nvSpPr>
        <p:spPr>
          <a:xfrm>
            <a:off x="1418844" y="5709514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2" name="形状 72"/>
          <p:cNvSpPr/>
          <p:nvPr/>
        </p:nvSpPr>
        <p:spPr>
          <a:xfrm>
            <a:off x="1511808" y="5709514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3" name="形状 73"/>
          <p:cNvSpPr/>
          <p:nvPr/>
        </p:nvSpPr>
        <p:spPr>
          <a:xfrm>
            <a:off x="1604772" y="5709514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4" name="形状 74"/>
          <p:cNvSpPr/>
          <p:nvPr/>
        </p:nvSpPr>
        <p:spPr>
          <a:xfrm>
            <a:off x="1697736" y="570951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5" name="形状 75"/>
          <p:cNvSpPr/>
          <p:nvPr/>
        </p:nvSpPr>
        <p:spPr>
          <a:xfrm>
            <a:off x="1790700" y="570951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6" name="形状 76"/>
          <p:cNvSpPr/>
          <p:nvPr/>
        </p:nvSpPr>
        <p:spPr>
          <a:xfrm>
            <a:off x="768096" y="5760720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7" name="形状 77"/>
          <p:cNvSpPr/>
          <p:nvPr/>
        </p:nvSpPr>
        <p:spPr>
          <a:xfrm>
            <a:off x="861060" y="5760720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8" name="形状 78"/>
          <p:cNvSpPr/>
          <p:nvPr/>
        </p:nvSpPr>
        <p:spPr>
          <a:xfrm>
            <a:off x="954024" y="5760720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79" name="形状 79"/>
          <p:cNvSpPr/>
          <p:nvPr/>
        </p:nvSpPr>
        <p:spPr>
          <a:xfrm>
            <a:off x="1046988" y="5760720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0" name="形状 80"/>
          <p:cNvSpPr/>
          <p:nvPr/>
        </p:nvSpPr>
        <p:spPr>
          <a:xfrm>
            <a:off x="1139952" y="5760720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1" name="形状 81"/>
          <p:cNvSpPr/>
          <p:nvPr/>
        </p:nvSpPr>
        <p:spPr>
          <a:xfrm>
            <a:off x="1232916" y="5760720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2" name="形状 82"/>
          <p:cNvSpPr/>
          <p:nvPr/>
        </p:nvSpPr>
        <p:spPr>
          <a:xfrm>
            <a:off x="1325880" y="5760720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3" name="形状 83"/>
          <p:cNvSpPr/>
          <p:nvPr/>
        </p:nvSpPr>
        <p:spPr>
          <a:xfrm>
            <a:off x="1418844" y="5760720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4" name="形状 84"/>
          <p:cNvSpPr/>
          <p:nvPr/>
        </p:nvSpPr>
        <p:spPr>
          <a:xfrm>
            <a:off x="1511808" y="5760720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5" name="形状 85"/>
          <p:cNvSpPr/>
          <p:nvPr/>
        </p:nvSpPr>
        <p:spPr>
          <a:xfrm>
            <a:off x="1604772" y="5760720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6" name="形状 86"/>
          <p:cNvSpPr/>
          <p:nvPr/>
        </p:nvSpPr>
        <p:spPr>
          <a:xfrm>
            <a:off x="1697736" y="5760720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7" name="形状 87"/>
          <p:cNvSpPr/>
          <p:nvPr/>
        </p:nvSpPr>
        <p:spPr>
          <a:xfrm>
            <a:off x="1790700" y="5760720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8" name="形状 88"/>
          <p:cNvSpPr/>
          <p:nvPr/>
        </p:nvSpPr>
        <p:spPr>
          <a:xfrm>
            <a:off x="768096" y="5811926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89" name="形状 89"/>
          <p:cNvSpPr/>
          <p:nvPr/>
        </p:nvSpPr>
        <p:spPr>
          <a:xfrm>
            <a:off x="861060" y="5811926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0" name="形状 90"/>
          <p:cNvSpPr/>
          <p:nvPr/>
        </p:nvSpPr>
        <p:spPr>
          <a:xfrm>
            <a:off x="954024" y="5811926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1" name="形状 91"/>
          <p:cNvSpPr/>
          <p:nvPr/>
        </p:nvSpPr>
        <p:spPr>
          <a:xfrm>
            <a:off x="1046988" y="5811926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2" name="形状 92"/>
          <p:cNvSpPr/>
          <p:nvPr/>
        </p:nvSpPr>
        <p:spPr>
          <a:xfrm>
            <a:off x="1139952" y="5811926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3" name="形状 93"/>
          <p:cNvSpPr/>
          <p:nvPr/>
        </p:nvSpPr>
        <p:spPr>
          <a:xfrm>
            <a:off x="1232916" y="5811926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4" name="形状 94"/>
          <p:cNvSpPr/>
          <p:nvPr/>
        </p:nvSpPr>
        <p:spPr>
          <a:xfrm>
            <a:off x="1325880" y="5811926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5" name="形状 95"/>
          <p:cNvSpPr/>
          <p:nvPr/>
        </p:nvSpPr>
        <p:spPr>
          <a:xfrm>
            <a:off x="1418844" y="5811926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6" name="形状 96"/>
          <p:cNvSpPr/>
          <p:nvPr/>
        </p:nvSpPr>
        <p:spPr>
          <a:xfrm>
            <a:off x="1511808" y="5811926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7" name="形状 97"/>
          <p:cNvSpPr/>
          <p:nvPr/>
        </p:nvSpPr>
        <p:spPr>
          <a:xfrm>
            <a:off x="1604772" y="5811926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8" name="形状 98"/>
          <p:cNvSpPr/>
          <p:nvPr/>
        </p:nvSpPr>
        <p:spPr>
          <a:xfrm>
            <a:off x="1697736" y="5811926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99" name="形状 99"/>
          <p:cNvSpPr/>
          <p:nvPr/>
        </p:nvSpPr>
        <p:spPr>
          <a:xfrm>
            <a:off x="1790700" y="5811926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0" name="形状 100"/>
          <p:cNvSpPr/>
          <p:nvPr/>
        </p:nvSpPr>
        <p:spPr>
          <a:xfrm>
            <a:off x="768096" y="5863133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1" name="形状 101"/>
          <p:cNvSpPr/>
          <p:nvPr/>
        </p:nvSpPr>
        <p:spPr>
          <a:xfrm>
            <a:off x="861060" y="5863133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2" name="形状 102"/>
          <p:cNvSpPr/>
          <p:nvPr/>
        </p:nvSpPr>
        <p:spPr>
          <a:xfrm>
            <a:off x="954024" y="5863133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3" name="形状 103"/>
          <p:cNvSpPr/>
          <p:nvPr/>
        </p:nvSpPr>
        <p:spPr>
          <a:xfrm>
            <a:off x="1046988" y="5863133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4" name="形状 104"/>
          <p:cNvSpPr/>
          <p:nvPr/>
        </p:nvSpPr>
        <p:spPr>
          <a:xfrm>
            <a:off x="1139952" y="5863133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5" name="形状 105"/>
          <p:cNvSpPr/>
          <p:nvPr/>
        </p:nvSpPr>
        <p:spPr>
          <a:xfrm>
            <a:off x="1232916" y="5863133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6" name="形状 106"/>
          <p:cNvSpPr/>
          <p:nvPr/>
        </p:nvSpPr>
        <p:spPr>
          <a:xfrm>
            <a:off x="1325880" y="5863133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7" name="形状 107"/>
          <p:cNvSpPr/>
          <p:nvPr/>
        </p:nvSpPr>
        <p:spPr>
          <a:xfrm>
            <a:off x="1418844" y="5863133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8" name="形状 108"/>
          <p:cNvSpPr/>
          <p:nvPr/>
        </p:nvSpPr>
        <p:spPr>
          <a:xfrm>
            <a:off x="1511808" y="5863133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09" name="形状 109"/>
          <p:cNvSpPr/>
          <p:nvPr/>
        </p:nvSpPr>
        <p:spPr>
          <a:xfrm>
            <a:off x="1604772" y="5863133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0" name="形状 110"/>
          <p:cNvSpPr/>
          <p:nvPr/>
        </p:nvSpPr>
        <p:spPr>
          <a:xfrm>
            <a:off x="1697736" y="5863133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1" name="形状 111"/>
          <p:cNvSpPr/>
          <p:nvPr/>
        </p:nvSpPr>
        <p:spPr>
          <a:xfrm>
            <a:off x="1790700" y="5863133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2" name="形状 112"/>
          <p:cNvSpPr/>
          <p:nvPr/>
        </p:nvSpPr>
        <p:spPr>
          <a:xfrm>
            <a:off x="768096" y="5914339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3" name="形状 113"/>
          <p:cNvSpPr/>
          <p:nvPr/>
        </p:nvSpPr>
        <p:spPr>
          <a:xfrm>
            <a:off x="861060" y="5914339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4" name="形状 114"/>
          <p:cNvSpPr/>
          <p:nvPr/>
        </p:nvSpPr>
        <p:spPr>
          <a:xfrm>
            <a:off x="954024" y="5914339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5" name="形状 115"/>
          <p:cNvSpPr/>
          <p:nvPr/>
        </p:nvSpPr>
        <p:spPr>
          <a:xfrm>
            <a:off x="1046988" y="5914339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6" name="形状 116"/>
          <p:cNvSpPr/>
          <p:nvPr/>
        </p:nvSpPr>
        <p:spPr>
          <a:xfrm>
            <a:off x="1139952" y="5914339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7" name="形状 117"/>
          <p:cNvSpPr/>
          <p:nvPr/>
        </p:nvSpPr>
        <p:spPr>
          <a:xfrm>
            <a:off x="1232916" y="5914339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8" name="形状 118"/>
          <p:cNvSpPr/>
          <p:nvPr/>
        </p:nvSpPr>
        <p:spPr>
          <a:xfrm>
            <a:off x="1325880" y="5914339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19" name="形状 119"/>
          <p:cNvSpPr/>
          <p:nvPr/>
        </p:nvSpPr>
        <p:spPr>
          <a:xfrm>
            <a:off x="1418844" y="5914339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0" name="形状 120"/>
          <p:cNvSpPr/>
          <p:nvPr/>
        </p:nvSpPr>
        <p:spPr>
          <a:xfrm>
            <a:off x="1511808" y="5914339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1" name="形状 121"/>
          <p:cNvSpPr/>
          <p:nvPr/>
        </p:nvSpPr>
        <p:spPr>
          <a:xfrm>
            <a:off x="1604772" y="5914339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2" name="形状 122"/>
          <p:cNvSpPr/>
          <p:nvPr/>
        </p:nvSpPr>
        <p:spPr>
          <a:xfrm>
            <a:off x="1697736" y="5914339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3" name="形状 123"/>
          <p:cNvSpPr/>
          <p:nvPr/>
        </p:nvSpPr>
        <p:spPr>
          <a:xfrm>
            <a:off x="1790700" y="5914339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4" name="形状 124"/>
          <p:cNvSpPr/>
          <p:nvPr/>
        </p:nvSpPr>
        <p:spPr>
          <a:xfrm>
            <a:off x="768096" y="5965546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5" name="形状 125"/>
          <p:cNvSpPr/>
          <p:nvPr/>
        </p:nvSpPr>
        <p:spPr>
          <a:xfrm>
            <a:off x="861060" y="5965546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6" name="形状 126"/>
          <p:cNvSpPr/>
          <p:nvPr/>
        </p:nvSpPr>
        <p:spPr>
          <a:xfrm>
            <a:off x="954024" y="5965546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7" name="形状 127"/>
          <p:cNvSpPr/>
          <p:nvPr/>
        </p:nvSpPr>
        <p:spPr>
          <a:xfrm>
            <a:off x="1046988" y="5965546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8" name="形状 128"/>
          <p:cNvSpPr/>
          <p:nvPr/>
        </p:nvSpPr>
        <p:spPr>
          <a:xfrm>
            <a:off x="1139952" y="5965546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29" name="形状 129"/>
          <p:cNvSpPr/>
          <p:nvPr/>
        </p:nvSpPr>
        <p:spPr>
          <a:xfrm>
            <a:off x="1232916" y="5965546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0" name="形状 130"/>
          <p:cNvSpPr/>
          <p:nvPr/>
        </p:nvSpPr>
        <p:spPr>
          <a:xfrm>
            <a:off x="1325880" y="5965546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1" name="形状 131"/>
          <p:cNvSpPr/>
          <p:nvPr/>
        </p:nvSpPr>
        <p:spPr>
          <a:xfrm>
            <a:off x="1418844" y="5965546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2" name="形状 132"/>
          <p:cNvSpPr/>
          <p:nvPr/>
        </p:nvSpPr>
        <p:spPr>
          <a:xfrm>
            <a:off x="1511808" y="5965546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3" name="形状 133"/>
          <p:cNvSpPr/>
          <p:nvPr/>
        </p:nvSpPr>
        <p:spPr>
          <a:xfrm>
            <a:off x="1604772" y="5965546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4" name="形状 134"/>
          <p:cNvSpPr/>
          <p:nvPr/>
        </p:nvSpPr>
        <p:spPr>
          <a:xfrm>
            <a:off x="1697736" y="5965546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5" name="形状 135"/>
          <p:cNvSpPr/>
          <p:nvPr/>
        </p:nvSpPr>
        <p:spPr>
          <a:xfrm>
            <a:off x="1790700" y="5965546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6" name="形状 136"/>
          <p:cNvSpPr/>
          <p:nvPr/>
        </p:nvSpPr>
        <p:spPr>
          <a:xfrm>
            <a:off x="768096" y="6016752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7" name="形状 137"/>
          <p:cNvSpPr/>
          <p:nvPr/>
        </p:nvSpPr>
        <p:spPr>
          <a:xfrm>
            <a:off x="861060" y="6016752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8" name="形状 138"/>
          <p:cNvSpPr/>
          <p:nvPr/>
        </p:nvSpPr>
        <p:spPr>
          <a:xfrm>
            <a:off x="954024" y="6016752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39" name="形状 139"/>
          <p:cNvSpPr/>
          <p:nvPr/>
        </p:nvSpPr>
        <p:spPr>
          <a:xfrm>
            <a:off x="1046988" y="6016752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0" name="形状 140"/>
          <p:cNvSpPr/>
          <p:nvPr/>
        </p:nvSpPr>
        <p:spPr>
          <a:xfrm>
            <a:off x="1139952" y="6016752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1" name="形状 141"/>
          <p:cNvSpPr/>
          <p:nvPr/>
        </p:nvSpPr>
        <p:spPr>
          <a:xfrm>
            <a:off x="1232916" y="6016752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2" name="形状 142"/>
          <p:cNvSpPr/>
          <p:nvPr/>
        </p:nvSpPr>
        <p:spPr>
          <a:xfrm>
            <a:off x="1325880" y="6016752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3" name="形状 143"/>
          <p:cNvSpPr/>
          <p:nvPr/>
        </p:nvSpPr>
        <p:spPr>
          <a:xfrm>
            <a:off x="1418844" y="6016752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4" name="形状 144"/>
          <p:cNvSpPr/>
          <p:nvPr/>
        </p:nvSpPr>
        <p:spPr>
          <a:xfrm>
            <a:off x="1511808" y="6016752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5" name="形状 145"/>
          <p:cNvSpPr/>
          <p:nvPr/>
        </p:nvSpPr>
        <p:spPr>
          <a:xfrm>
            <a:off x="1604772" y="6016752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6" name="形状 146"/>
          <p:cNvSpPr/>
          <p:nvPr/>
        </p:nvSpPr>
        <p:spPr>
          <a:xfrm>
            <a:off x="1697736" y="6016752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7" name="形状 147"/>
          <p:cNvSpPr/>
          <p:nvPr/>
        </p:nvSpPr>
        <p:spPr>
          <a:xfrm>
            <a:off x="1790700" y="6016752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8" name="形状 148"/>
          <p:cNvSpPr/>
          <p:nvPr/>
        </p:nvSpPr>
        <p:spPr>
          <a:xfrm>
            <a:off x="768096" y="606795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49" name="形状 149"/>
          <p:cNvSpPr/>
          <p:nvPr/>
        </p:nvSpPr>
        <p:spPr>
          <a:xfrm>
            <a:off x="861060" y="606795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0" name="形状 150"/>
          <p:cNvSpPr/>
          <p:nvPr/>
        </p:nvSpPr>
        <p:spPr>
          <a:xfrm>
            <a:off x="954024" y="6067958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1" name="形状 151"/>
          <p:cNvSpPr/>
          <p:nvPr/>
        </p:nvSpPr>
        <p:spPr>
          <a:xfrm>
            <a:off x="1046988" y="6067958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2" name="形状 152"/>
          <p:cNvSpPr/>
          <p:nvPr/>
        </p:nvSpPr>
        <p:spPr>
          <a:xfrm>
            <a:off x="1139952" y="6067958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3" name="形状 153"/>
          <p:cNvSpPr/>
          <p:nvPr/>
        </p:nvSpPr>
        <p:spPr>
          <a:xfrm>
            <a:off x="1232916" y="606795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4" name="形状 154"/>
          <p:cNvSpPr/>
          <p:nvPr/>
        </p:nvSpPr>
        <p:spPr>
          <a:xfrm>
            <a:off x="1325880" y="606795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5" name="形状 155"/>
          <p:cNvSpPr/>
          <p:nvPr/>
        </p:nvSpPr>
        <p:spPr>
          <a:xfrm>
            <a:off x="1418844" y="6067958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6" name="形状 156"/>
          <p:cNvSpPr/>
          <p:nvPr/>
        </p:nvSpPr>
        <p:spPr>
          <a:xfrm>
            <a:off x="1511808" y="6067958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7" name="形状 157"/>
          <p:cNvSpPr/>
          <p:nvPr/>
        </p:nvSpPr>
        <p:spPr>
          <a:xfrm>
            <a:off x="1604772" y="6067958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8" name="形状 158"/>
          <p:cNvSpPr/>
          <p:nvPr/>
        </p:nvSpPr>
        <p:spPr>
          <a:xfrm>
            <a:off x="1697736" y="606795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59" name="形状 159"/>
          <p:cNvSpPr/>
          <p:nvPr/>
        </p:nvSpPr>
        <p:spPr>
          <a:xfrm>
            <a:off x="1790700" y="606795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0" name="形状 160"/>
          <p:cNvSpPr/>
          <p:nvPr/>
        </p:nvSpPr>
        <p:spPr>
          <a:xfrm>
            <a:off x="768096" y="6119165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1" name="形状 161"/>
          <p:cNvSpPr/>
          <p:nvPr/>
        </p:nvSpPr>
        <p:spPr>
          <a:xfrm>
            <a:off x="861060" y="6119165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2" name="形状 162"/>
          <p:cNvSpPr/>
          <p:nvPr/>
        </p:nvSpPr>
        <p:spPr>
          <a:xfrm>
            <a:off x="954024" y="6119165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3" name="形状 163"/>
          <p:cNvSpPr/>
          <p:nvPr/>
        </p:nvSpPr>
        <p:spPr>
          <a:xfrm>
            <a:off x="1046988" y="6119165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4" name="形状 164"/>
          <p:cNvSpPr/>
          <p:nvPr/>
        </p:nvSpPr>
        <p:spPr>
          <a:xfrm>
            <a:off x="1139952" y="6119165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5" name="形状 165"/>
          <p:cNvSpPr/>
          <p:nvPr/>
        </p:nvSpPr>
        <p:spPr>
          <a:xfrm>
            <a:off x="1232916" y="6119165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6" name="形状 166"/>
          <p:cNvSpPr/>
          <p:nvPr/>
        </p:nvSpPr>
        <p:spPr>
          <a:xfrm>
            <a:off x="1325880" y="6119165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7" name="形状 167"/>
          <p:cNvSpPr/>
          <p:nvPr/>
        </p:nvSpPr>
        <p:spPr>
          <a:xfrm>
            <a:off x="1418844" y="6119165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8" name="形状 168"/>
          <p:cNvSpPr/>
          <p:nvPr/>
        </p:nvSpPr>
        <p:spPr>
          <a:xfrm>
            <a:off x="1511808" y="6119165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69" name="形状 169"/>
          <p:cNvSpPr/>
          <p:nvPr/>
        </p:nvSpPr>
        <p:spPr>
          <a:xfrm>
            <a:off x="1604772" y="6119165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0" name="形状 170"/>
          <p:cNvSpPr/>
          <p:nvPr/>
        </p:nvSpPr>
        <p:spPr>
          <a:xfrm>
            <a:off x="1697736" y="6119165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1" name="形状 171"/>
          <p:cNvSpPr/>
          <p:nvPr/>
        </p:nvSpPr>
        <p:spPr>
          <a:xfrm>
            <a:off x="1790700" y="6119165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2" name="形状 172"/>
          <p:cNvSpPr/>
          <p:nvPr/>
        </p:nvSpPr>
        <p:spPr>
          <a:xfrm>
            <a:off x="768096" y="6170371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3" name="形状 173"/>
          <p:cNvSpPr/>
          <p:nvPr/>
        </p:nvSpPr>
        <p:spPr>
          <a:xfrm>
            <a:off x="861060" y="6170371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4" name="形状 174"/>
          <p:cNvSpPr/>
          <p:nvPr/>
        </p:nvSpPr>
        <p:spPr>
          <a:xfrm>
            <a:off x="954024" y="6170371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5" name="形状 175"/>
          <p:cNvSpPr/>
          <p:nvPr/>
        </p:nvSpPr>
        <p:spPr>
          <a:xfrm>
            <a:off x="1046988" y="6170371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6" name="形状 176"/>
          <p:cNvSpPr/>
          <p:nvPr/>
        </p:nvSpPr>
        <p:spPr>
          <a:xfrm>
            <a:off x="1139952" y="6170371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7" name="形状 177"/>
          <p:cNvSpPr/>
          <p:nvPr/>
        </p:nvSpPr>
        <p:spPr>
          <a:xfrm>
            <a:off x="1232916" y="6170371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8" name="形状 178"/>
          <p:cNvSpPr/>
          <p:nvPr/>
        </p:nvSpPr>
        <p:spPr>
          <a:xfrm>
            <a:off x="1325880" y="6170371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79" name="形状 179"/>
          <p:cNvSpPr/>
          <p:nvPr/>
        </p:nvSpPr>
        <p:spPr>
          <a:xfrm>
            <a:off x="1418844" y="6170371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0" name="形状 180"/>
          <p:cNvSpPr/>
          <p:nvPr/>
        </p:nvSpPr>
        <p:spPr>
          <a:xfrm>
            <a:off x="1511808" y="6170371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1" name="形状 181"/>
          <p:cNvSpPr/>
          <p:nvPr/>
        </p:nvSpPr>
        <p:spPr>
          <a:xfrm>
            <a:off x="1604772" y="6170371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2" name="形状 182"/>
          <p:cNvSpPr/>
          <p:nvPr/>
        </p:nvSpPr>
        <p:spPr>
          <a:xfrm>
            <a:off x="1697736" y="6170371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3" name="形状 183"/>
          <p:cNvSpPr/>
          <p:nvPr/>
        </p:nvSpPr>
        <p:spPr>
          <a:xfrm>
            <a:off x="1790700" y="6170371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4" name="形状 184"/>
          <p:cNvSpPr/>
          <p:nvPr/>
        </p:nvSpPr>
        <p:spPr>
          <a:xfrm>
            <a:off x="768096" y="622157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5" name="形状 185"/>
          <p:cNvSpPr/>
          <p:nvPr/>
        </p:nvSpPr>
        <p:spPr>
          <a:xfrm>
            <a:off x="861060" y="622157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6" name="形状 186"/>
          <p:cNvSpPr/>
          <p:nvPr/>
        </p:nvSpPr>
        <p:spPr>
          <a:xfrm>
            <a:off x="954024" y="6221578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7" name="形状 187"/>
          <p:cNvSpPr/>
          <p:nvPr/>
        </p:nvSpPr>
        <p:spPr>
          <a:xfrm>
            <a:off x="1046988" y="6221578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8" name="形状 188"/>
          <p:cNvSpPr/>
          <p:nvPr/>
        </p:nvSpPr>
        <p:spPr>
          <a:xfrm>
            <a:off x="1139952" y="6221578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89" name="形状 189"/>
          <p:cNvSpPr/>
          <p:nvPr/>
        </p:nvSpPr>
        <p:spPr>
          <a:xfrm>
            <a:off x="1232916" y="622157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0" name="形状 190"/>
          <p:cNvSpPr/>
          <p:nvPr/>
        </p:nvSpPr>
        <p:spPr>
          <a:xfrm>
            <a:off x="1325880" y="622157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1" name="形状 191"/>
          <p:cNvSpPr/>
          <p:nvPr/>
        </p:nvSpPr>
        <p:spPr>
          <a:xfrm>
            <a:off x="1418844" y="6221578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2" name="形状 192"/>
          <p:cNvSpPr/>
          <p:nvPr/>
        </p:nvSpPr>
        <p:spPr>
          <a:xfrm>
            <a:off x="1511808" y="6221578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3" name="形状 193"/>
          <p:cNvSpPr/>
          <p:nvPr/>
        </p:nvSpPr>
        <p:spPr>
          <a:xfrm>
            <a:off x="1604772" y="6221578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4" name="形状 194"/>
          <p:cNvSpPr/>
          <p:nvPr/>
        </p:nvSpPr>
        <p:spPr>
          <a:xfrm>
            <a:off x="1697736" y="6221578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5" name="形状 195"/>
          <p:cNvSpPr/>
          <p:nvPr/>
        </p:nvSpPr>
        <p:spPr>
          <a:xfrm>
            <a:off x="1790700" y="6221578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6" name="形状 196"/>
          <p:cNvSpPr/>
          <p:nvPr/>
        </p:nvSpPr>
        <p:spPr>
          <a:xfrm>
            <a:off x="768096" y="627278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7" name="形状 197"/>
          <p:cNvSpPr/>
          <p:nvPr/>
        </p:nvSpPr>
        <p:spPr>
          <a:xfrm>
            <a:off x="861060" y="627278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8" name="形状 198"/>
          <p:cNvSpPr/>
          <p:nvPr/>
        </p:nvSpPr>
        <p:spPr>
          <a:xfrm>
            <a:off x="954024" y="6272784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199" name="形状 199"/>
          <p:cNvSpPr/>
          <p:nvPr/>
        </p:nvSpPr>
        <p:spPr>
          <a:xfrm>
            <a:off x="1046988" y="6272784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0" name="形状 200"/>
          <p:cNvSpPr/>
          <p:nvPr/>
        </p:nvSpPr>
        <p:spPr>
          <a:xfrm>
            <a:off x="1139952" y="6272784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1" name="形状 201"/>
          <p:cNvSpPr/>
          <p:nvPr/>
        </p:nvSpPr>
        <p:spPr>
          <a:xfrm>
            <a:off x="1232916" y="627278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2" name="形状 202"/>
          <p:cNvSpPr/>
          <p:nvPr/>
        </p:nvSpPr>
        <p:spPr>
          <a:xfrm>
            <a:off x="1325880" y="627278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3" name="形状 203"/>
          <p:cNvSpPr/>
          <p:nvPr/>
        </p:nvSpPr>
        <p:spPr>
          <a:xfrm>
            <a:off x="1418844" y="6272784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4" name="形状 204"/>
          <p:cNvSpPr/>
          <p:nvPr/>
        </p:nvSpPr>
        <p:spPr>
          <a:xfrm>
            <a:off x="1511808" y="6272784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5" name="形状 205"/>
          <p:cNvSpPr/>
          <p:nvPr/>
        </p:nvSpPr>
        <p:spPr>
          <a:xfrm>
            <a:off x="1604772" y="6272784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6" name="形状 206"/>
          <p:cNvSpPr/>
          <p:nvPr/>
        </p:nvSpPr>
        <p:spPr>
          <a:xfrm>
            <a:off x="1697736" y="6272784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7" name="形状 207"/>
          <p:cNvSpPr/>
          <p:nvPr/>
        </p:nvSpPr>
        <p:spPr>
          <a:xfrm>
            <a:off x="1790700" y="6272784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8" name="形状 208"/>
          <p:cNvSpPr/>
          <p:nvPr/>
        </p:nvSpPr>
        <p:spPr>
          <a:xfrm>
            <a:off x="768096" y="6323990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09" name="形状 209"/>
          <p:cNvSpPr/>
          <p:nvPr/>
        </p:nvSpPr>
        <p:spPr>
          <a:xfrm>
            <a:off x="861060" y="6323990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0" name="形状 210"/>
          <p:cNvSpPr/>
          <p:nvPr/>
        </p:nvSpPr>
        <p:spPr>
          <a:xfrm>
            <a:off x="954024" y="6323990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1" name="形状 211"/>
          <p:cNvSpPr/>
          <p:nvPr/>
        </p:nvSpPr>
        <p:spPr>
          <a:xfrm>
            <a:off x="1046988" y="6323990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2" name="形状 212"/>
          <p:cNvSpPr/>
          <p:nvPr/>
        </p:nvSpPr>
        <p:spPr>
          <a:xfrm>
            <a:off x="1139952" y="6323990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3" name="形状 213"/>
          <p:cNvSpPr/>
          <p:nvPr/>
        </p:nvSpPr>
        <p:spPr>
          <a:xfrm>
            <a:off x="1232916" y="6323990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4" name="形状 214"/>
          <p:cNvSpPr/>
          <p:nvPr/>
        </p:nvSpPr>
        <p:spPr>
          <a:xfrm>
            <a:off x="1325880" y="6323990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5" name="形状 215"/>
          <p:cNvSpPr/>
          <p:nvPr/>
        </p:nvSpPr>
        <p:spPr>
          <a:xfrm>
            <a:off x="1418844" y="6323990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6" name="形状 216"/>
          <p:cNvSpPr/>
          <p:nvPr/>
        </p:nvSpPr>
        <p:spPr>
          <a:xfrm>
            <a:off x="1511808" y="6323990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7" name="形状 217"/>
          <p:cNvSpPr/>
          <p:nvPr/>
        </p:nvSpPr>
        <p:spPr>
          <a:xfrm>
            <a:off x="1604772" y="6323990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8" name="形状 218"/>
          <p:cNvSpPr/>
          <p:nvPr/>
        </p:nvSpPr>
        <p:spPr>
          <a:xfrm>
            <a:off x="1697736" y="6323990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19" name="形状 219"/>
          <p:cNvSpPr/>
          <p:nvPr/>
        </p:nvSpPr>
        <p:spPr>
          <a:xfrm>
            <a:off x="1790700" y="6323990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0" name="形状 220"/>
          <p:cNvSpPr/>
          <p:nvPr/>
        </p:nvSpPr>
        <p:spPr>
          <a:xfrm>
            <a:off x="768096" y="6375197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1" name="形状 221"/>
          <p:cNvSpPr/>
          <p:nvPr/>
        </p:nvSpPr>
        <p:spPr>
          <a:xfrm>
            <a:off x="861060" y="6375197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2" name="形状 222"/>
          <p:cNvSpPr/>
          <p:nvPr/>
        </p:nvSpPr>
        <p:spPr>
          <a:xfrm>
            <a:off x="954024" y="6375197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3" name="形状 223"/>
          <p:cNvSpPr/>
          <p:nvPr/>
        </p:nvSpPr>
        <p:spPr>
          <a:xfrm>
            <a:off x="1046988" y="6375197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4" name="形状 224"/>
          <p:cNvSpPr/>
          <p:nvPr/>
        </p:nvSpPr>
        <p:spPr>
          <a:xfrm>
            <a:off x="1139952" y="6375197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5" name="形状 225"/>
          <p:cNvSpPr/>
          <p:nvPr/>
        </p:nvSpPr>
        <p:spPr>
          <a:xfrm>
            <a:off x="1232916" y="6375197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6" name="形状 226"/>
          <p:cNvSpPr/>
          <p:nvPr/>
        </p:nvSpPr>
        <p:spPr>
          <a:xfrm>
            <a:off x="1325880" y="6375197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7" name="形状 227"/>
          <p:cNvSpPr/>
          <p:nvPr/>
        </p:nvSpPr>
        <p:spPr>
          <a:xfrm>
            <a:off x="1418844" y="6375197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8" name="形状 228"/>
          <p:cNvSpPr/>
          <p:nvPr/>
        </p:nvSpPr>
        <p:spPr>
          <a:xfrm>
            <a:off x="1511808" y="6375197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29" name="形状 229"/>
          <p:cNvSpPr/>
          <p:nvPr/>
        </p:nvSpPr>
        <p:spPr>
          <a:xfrm>
            <a:off x="1604772" y="6375197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0" name="形状 230"/>
          <p:cNvSpPr/>
          <p:nvPr/>
        </p:nvSpPr>
        <p:spPr>
          <a:xfrm>
            <a:off x="1697736" y="6375197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1" name="形状 231"/>
          <p:cNvSpPr/>
          <p:nvPr/>
        </p:nvSpPr>
        <p:spPr>
          <a:xfrm>
            <a:off x="1790700" y="6375197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2" name="形状 232"/>
          <p:cNvSpPr/>
          <p:nvPr/>
        </p:nvSpPr>
        <p:spPr>
          <a:xfrm>
            <a:off x="768096" y="6426403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3" name="形状 233"/>
          <p:cNvSpPr/>
          <p:nvPr/>
        </p:nvSpPr>
        <p:spPr>
          <a:xfrm>
            <a:off x="861060" y="6426403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4" name="形状 234"/>
          <p:cNvSpPr/>
          <p:nvPr/>
        </p:nvSpPr>
        <p:spPr>
          <a:xfrm>
            <a:off x="954024" y="6426403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5" name="形状 235"/>
          <p:cNvSpPr/>
          <p:nvPr/>
        </p:nvSpPr>
        <p:spPr>
          <a:xfrm>
            <a:off x="1046988" y="6426403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6" name="形状 236"/>
          <p:cNvSpPr/>
          <p:nvPr/>
        </p:nvSpPr>
        <p:spPr>
          <a:xfrm>
            <a:off x="1139952" y="6426403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7" name="形状 237"/>
          <p:cNvSpPr/>
          <p:nvPr/>
        </p:nvSpPr>
        <p:spPr>
          <a:xfrm>
            <a:off x="1232916" y="6426403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8" name="形状 238"/>
          <p:cNvSpPr/>
          <p:nvPr/>
        </p:nvSpPr>
        <p:spPr>
          <a:xfrm>
            <a:off x="1325880" y="6426403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39" name="形状 239"/>
          <p:cNvSpPr/>
          <p:nvPr/>
        </p:nvSpPr>
        <p:spPr>
          <a:xfrm>
            <a:off x="1418844" y="6426403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0" name="形状 240"/>
          <p:cNvSpPr/>
          <p:nvPr/>
        </p:nvSpPr>
        <p:spPr>
          <a:xfrm>
            <a:off x="1511808" y="6426403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1" name="形状 241"/>
          <p:cNvSpPr/>
          <p:nvPr/>
        </p:nvSpPr>
        <p:spPr>
          <a:xfrm>
            <a:off x="1604772" y="6426403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2" name="形状 242"/>
          <p:cNvSpPr/>
          <p:nvPr/>
        </p:nvSpPr>
        <p:spPr>
          <a:xfrm>
            <a:off x="1697736" y="6426403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3" name="形状 243"/>
          <p:cNvSpPr/>
          <p:nvPr/>
        </p:nvSpPr>
        <p:spPr>
          <a:xfrm>
            <a:off x="1790700" y="6426403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4" name="形状 244"/>
          <p:cNvSpPr/>
          <p:nvPr/>
        </p:nvSpPr>
        <p:spPr>
          <a:xfrm>
            <a:off x="768096" y="6477610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5" name="形状 245"/>
          <p:cNvSpPr/>
          <p:nvPr/>
        </p:nvSpPr>
        <p:spPr>
          <a:xfrm>
            <a:off x="861060" y="6477610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6" name="形状 246"/>
          <p:cNvSpPr/>
          <p:nvPr/>
        </p:nvSpPr>
        <p:spPr>
          <a:xfrm>
            <a:off x="954024" y="6477610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7" name="形状 247"/>
          <p:cNvSpPr/>
          <p:nvPr/>
        </p:nvSpPr>
        <p:spPr>
          <a:xfrm>
            <a:off x="1046988" y="6477610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8" name="形状 248"/>
          <p:cNvSpPr/>
          <p:nvPr/>
        </p:nvSpPr>
        <p:spPr>
          <a:xfrm>
            <a:off x="1139952" y="6477610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49" name="形状 249"/>
          <p:cNvSpPr/>
          <p:nvPr/>
        </p:nvSpPr>
        <p:spPr>
          <a:xfrm>
            <a:off x="1232916" y="6477610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0" name="形状 250"/>
          <p:cNvSpPr/>
          <p:nvPr/>
        </p:nvSpPr>
        <p:spPr>
          <a:xfrm>
            <a:off x="1325880" y="6477610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1" name="形状 251"/>
          <p:cNvSpPr/>
          <p:nvPr/>
        </p:nvSpPr>
        <p:spPr>
          <a:xfrm>
            <a:off x="1418844" y="6477610"/>
            <a:ext cx="87478" cy="46634"/>
          </a:xfrm>
          <a:prstGeom prst="rect">
            <a:avLst/>
          </a:prstGeom>
          <a:solidFill>
            <a:srgbClr val="D6D4E1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2" name="形状 252"/>
          <p:cNvSpPr/>
          <p:nvPr/>
        </p:nvSpPr>
        <p:spPr>
          <a:xfrm>
            <a:off x="1511808" y="6477610"/>
            <a:ext cx="87478" cy="46634"/>
          </a:xfrm>
          <a:prstGeom prst="rect">
            <a:avLst/>
          </a:prstGeom>
          <a:solidFill>
            <a:srgbClr val="979AAD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3" name="形状 253"/>
          <p:cNvSpPr/>
          <p:nvPr/>
        </p:nvSpPr>
        <p:spPr>
          <a:xfrm>
            <a:off x="1604772" y="6477610"/>
            <a:ext cx="87478" cy="46634"/>
          </a:xfrm>
          <a:prstGeom prst="rect">
            <a:avLst/>
          </a:prstGeom>
          <a:solidFill>
            <a:srgbClr val="C5C6D3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4" name="形状 254"/>
          <p:cNvSpPr/>
          <p:nvPr/>
        </p:nvSpPr>
        <p:spPr>
          <a:xfrm>
            <a:off x="1697736" y="6477610"/>
            <a:ext cx="87478" cy="46634"/>
          </a:xfrm>
          <a:prstGeom prst="rect">
            <a:avLst/>
          </a:prstGeom>
          <a:solidFill>
            <a:srgbClr val="B8B7CA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5" name="形状 255"/>
          <p:cNvSpPr/>
          <p:nvPr/>
        </p:nvSpPr>
        <p:spPr>
          <a:xfrm>
            <a:off x="1790700" y="6477610"/>
            <a:ext cx="87478" cy="46634"/>
          </a:xfrm>
          <a:prstGeom prst="rect">
            <a:avLst/>
          </a:prstGeom>
          <a:solidFill>
            <a:srgbClr val="E5E4EC"/>
          </a:solidFill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6" name="形状 256"/>
          <p:cNvSpPr/>
          <p:nvPr/>
        </p:nvSpPr>
        <p:spPr>
          <a:xfrm>
            <a:off x="768096" y="5504688"/>
            <a:ext cx="1115568" cy="1024128"/>
          </a:xfrm>
          <a:prstGeom prst="rect">
            <a:avLst/>
          </a:prstGeom>
          <a:noFill/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57" name="X̂ ∈ R²⁰ˣ¹²"/>
          <p:cNvSpPr/>
          <p:nvPr/>
        </p:nvSpPr>
        <p:spPr>
          <a:xfrm>
            <a:off x="612648" y="6583680"/>
            <a:ext cx="1435608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 ∈ R²⁰ˣ¹²</a:t>
            </a:r>
            <a:endParaRPr lang="zh-CN" sz="1100"/>
          </a:p>
        </p:txBody>
      </p:sp>
      <p:cxnSp>
        <p:nvCxnSpPr>
          <p:cNvPr id="258" name="连接线 258"/>
          <p:cNvCxnSpPr/>
          <p:nvPr/>
        </p:nvCxnSpPr>
        <p:spPr>
          <a:xfrm>
            <a:off x="1325880" y="6528816"/>
            <a:ext cx="1" cy="356616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cxnSp>
        <p:nvCxnSpPr>
          <p:cNvPr id="259" name="连接线 259"/>
          <p:cNvCxnSpPr/>
          <p:nvPr/>
        </p:nvCxnSpPr>
        <p:spPr>
          <a:xfrm>
            <a:off x="1325880" y="6885432"/>
            <a:ext cx="11119104" cy="1"/>
          </a:xfrm>
          <a:prstGeom prst="line">
            <a:avLst/>
          </a:prstGeom>
          <a:ln w="15240">
            <a:solidFill>
              <a:srgbClr val="986344"/>
            </a:solidFill>
          </a:ln>
        </p:spPr>
      </p:cxnSp>
      <p:sp>
        <p:nvSpPr>
          <p:cNvPr id="260" name="LSTM²"/>
          <p:cNvSpPr/>
          <p:nvPr/>
        </p:nvSpPr>
        <p:spPr>
          <a:xfrm>
            <a:off x="2743200" y="2313432"/>
            <a:ext cx="1115568" cy="6309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</a:t>
            </a:r>
            <a:endParaRPr lang="zh-CN" sz="1300"/>
          </a:p>
        </p:txBody>
      </p:sp>
      <p:sp>
        <p:nvSpPr>
          <p:cNvPr id="261" name="LSTM¹"/>
          <p:cNvSpPr/>
          <p:nvPr/>
        </p:nvSpPr>
        <p:spPr>
          <a:xfrm>
            <a:off x="2743200" y="3511296"/>
            <a:ext cx="1115568" cy="6309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</a:t>
            </a:r>
            <a:endParaRPr lang="zh-CN" sz="1300"/>
          </a:p>
        </p:txBody>
      </p:sp>
      <p:cxnSp>
        <p:nvCxnSpPr>
          <p:cNvPr id="262" name="连接线 262"/>
          <p:cNvCxnSpPr/>
          <p:nvPr/>
        </p:nvCxnSpPr>
        <p:spPr>
          <a:xfrm flipV="1">
            <a:off x="3300984" y="2944368"/>
            <a:ext cx="1" cy="566928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263" name="h₁⁽¹⁾ · Dropout 0.2"/>
          <p:cNvSpPr/>
          <p:nvPr/>
        </p:nvSpPr>
        <p:spPr>
          <a:xfrm>
            <a:off x="3410712" y="3136392"/>
            <a:ext cx="1755648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9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h₁⁽¹⁾ · Dropout 0.2</a:t>
            </a:r>
            <a:endParaRPr lang="zh-CN" sz="900"/>
          </a:p>
        </p:txBody>
      </p:sp>
      <p:sp>
        <p:nvSpPr>
          <p:cNvPr id="264" name="形状 264"/>
          <p:cNvSpPr/>
          <p:nvPr/>
        </p:nvSpPr>
        <p:spPr>
          <a:xfrm>
            <a:off x="2112264" y="5193792"/>
            <a:ext cx="2377440" cy="722376"/>
          </a:xfrm>
          <a:prstGeom prst="rect">
            <a:avLst/>
          </a:prstGeom>
          <a:noFill/>
          <a:ln w="11430">
            <a:solidFill>
              <a:srgbClr val="CDD6DD"/>
            </a:solidFill>
            <a:prstDash val="dash"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65" name="W₁, b₁"/>
          <p:cNvSpPr/>
          <p:nvPr/>
        </p:nvSpPr>
        <p:spPr>
          <a:xfrm>
            <a:off x="2167128" y="5303520"/>
            <a:ext cx="566928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W₁, b₁</a:t>
            </a:r>
            <a:endParaRPr lang="zh-CN" sz="900"/>
          </a:p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12 → 16</a:t>
            </a:r>
            <a:endParaRPr lang="zh-CN" sz="900"/>
          </a:p>
        </p:txBody>
      </p:sp>
      <p:sp>
        <p:nvSpPr>
          <p:cNvPr id="266" name="tanh"/>
          <p:cNvSpPr/>
          <p:nvPr/>
        </p:nvSpPr>
        <p:spPr>
          <a:xfrm>
            <a:off x="2788920" y="5303520"/>
            <a:ext cx="365760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900"/>
          </a:p>
        </p:txBody>
      </p:sp>
      <p:cxnSp>
        <p:nvCxnSpPr>
          <p:cNvPr id="267" name="连接线 267"/>
          <p:cNvCxnSpPr/>
          <p:nvPr/>
        </p:nvCxnSpPr>
        <p:spPr>
          <a:xfrm>
            <a:off x="2734056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sp>
        <p:nvSpPr>
          <p:cNvPr id="268" name="W₂, b₂"/>
          <p:cNvSpPr/>
          <p:nvPr/>
        </p:nvSpPr>
        <p:spPr>
          <a:xfrm>
            <a:off x="3209544" y="5303520"/>
            <a:ext cx="566928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W₂, b₂</a:t>
            </a:r>
            <a:endParaRPr lang="zh-CN" sz="900"/>
          </a:p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16 → 12</a:t>
            </a:r>
            <a:endParaRPr lang="zh-CN" sz="900"/>
          </a:p>
        </p:txBody>
      </p:sp>
      <p:cxnSp>
        <p:nvCxnSpPr>
          <p:cNvPr id="269" name="连接线 269"/>
          <p:cNvCxnSpPr/>
          <p:nvPr/>
        </p:nvCxnSpPr>
        <p:spPr>
          <a:xfrm>
            <a:off x="3154680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sp>
        <p:nvSpPr>
          <p:cNvPr id="270" name="Sigmoid"/>
          <p:cNvSpPr/>
          <p:nvPr/>
        </p:nvSpPr>
        <p:spPr>
          <a:xfrm>
            <a:off x="3831336" y="5303520"/>
            <a:ext cx="603504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Sigmoid</a:t>
            </a:r>
            <a:endParaRPr lang="zh-CN" sz="900"/>
          </a:p>
        </p:txBody>
      </p:sp>
      <p:cxnSp>
        <p:nvCxnSpPr>
          <p:cNvPr id="271" name="连接线 271"/>
          <p:cNvCxnSpPr/>
          <p:nvPr/>
        </p:nvCxnSpPr>
        <p:spPr>
          <a:xfrm>
            <a:off x="3776472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cxnSp>
        <p:nvCxnSpPr>
          <p:cNvPr id="272" name="连接线 272"/>
          <p:cNvCxnSpPr/>
          <p:nvPr/>
        </p:nvCxnSpPr>
        <p:spPr>
          <a:xfrm>
            <a:off x="4434840" y="5545836"/>
            <a:ext cx="118872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273" name="连接线 273"/>
          <p:cNvCxnSpPr/>
          <p:nvPr/>
        </p:nvCxnSpPr>
        <p:spPr>
          <a:xfrm flipV="1">
            <a:off x="4553712" y="5020056"/>
            <a:ext cx="1" cy="525780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274" name="连接线 274"/>
          <p:cNvCxnSpPr/>
          <p:nvPr/>
        </p:nvCxnSpPr>
        <p:spPr>
          <a:xfrm flipH="1">
            <a:off x="3300984" y="5020056"/>
            <a:ext cx="1252728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275" name="连接线 275"/>
          <p:cNvCxnSpPr/>
          <p:nvPr/>
        </p:nvCxnSpPr>
        <p:spPr>
          <a:xfrm flipV="1">
            <a:off x="3300984" y="4841748"/>
            <a:ext cx="1" cy="178308"/>
          </a:xfrm>
          <a:prstGeom prst="line">
            <a:avLst/>
          </a:prstGeom>
          <a:ln w="11430">
            <a:solidFill>
              <a:srgbClr val="315F82"/>
            </a:solidFill>
            <a:tailEnd type="triangle" w="sm" len="sm"/>
          </a:ln>
        </p:spPr>
      </p:cxnSp>
      <p:sp>
        <p:nvSpPr>
          <p:cNvPr id="276" name="⊙"/>
          <p:cNvSpPr/>
          <p:nvPr/>
        </p:nvSpPr>
        <p:spPr>
          <a:xfrm>
            <a:off x="3150108" y="4539996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277" name="连接线 277"/>
          <p:cNvCxnSpPr/>
          <p:nvPr/>
        </p:nvCxnSpPr>
        <p:spPr>
          <a:xfrm flipV="1">
            <a:off x="3300984" y="4142232"/>
            <a:ext cx="1" cy="397764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278" name="x₁ʷ"/>
          <p:cNvSpPr/>
          <p:nvPr/>
        </p:nvSpPr>
        <p:spPr>
          <a:xfrm>
            <a:off x="3483864" y="4297680"/>
            <a:ext cx="932688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x₁ʷ</a:t>
            </a:r>
            <a:endParaRPr lang="zh-CN" sz="1300"/>
          </a:p>
        </p:txBody>
      </p:sp>
      <p:sp>
        <p:nvSpPr>
          <p:cNvPr id="279" name="a₁"/>
          <p:cNvSpPr/>
          <p:nvPr/>
        </p:nvSpPr>
        <p:spPr>
          <a:xfrm>
            <a:off x="3465576" y="5029200"/>
            <a:ext cx="731520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100" b="0" i="0">
                <a:solidFill>
                  <a:srgbClr val="315F82"/>
                </a:solidFill>
                <a:latin typeface="Cambria Math"/>
                <a:ea typeface="宋体"/>
                <a:cs typeface="Times New Roman"/>
              </a:rPr>
              <a:t>a₁</a:t>
            </a:r>
            <a:endParaRPr lang="zh-CN" sz="1100"/>
          </a:p>
        </p:txBody>
      </p:sp>
      <p:sp>
        <p:nvSpPr>
          <p:cNvPr id="280" name="x̂₁"/>
          <p:cNvSpPr/>
          <p:nvPr/>
        </p:nvSpPr>
        <p:spPr>
          <a:xfrm>
            <a:off x="2743200" y="6327648"/>
            <a:ext cx="1115568" cy="283464"/>
          </a:xfrm>
          <a:prstGeom prst="rect">
            <a:avLst/>
          </a:prstGeom>
          <a:solidFill>
            <a:srgbClr val="F6F8FA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x̂₁</a:t>
            </a:r>
            <a:endParaRPr lang="zh-CN" sz="1300"/>
          </a:p>
        </p:txBody>
      </p:sp>
      <p:cxnSp>
        <p:nvCxnSpPr>
          <p:cNvPr id="281" name="连接线 281"/>
          <p:cNvCxnSpPr/>
          <p:nvPr/>
        </p:nvCxnSpPr>
        <p:spPr>
          <a:xfrm flipV="1">
            <a:off x="3300984" y="6611112"/>
            <a:ext cx="1" cy="274320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cxnSp>
        <p:nvCxnSpPr>
          <p:cNvPr id="282" name="连接线 282"/>
          <p:cNvCxnSpPr/>
          <p:nvPr/>
        </p:nvCxnSpPr>
        <p:spPr>
          <a:xfrm flipV="1">
            <a:off x="3300984" y="5934456"/>
            <a:ext cx="1" cy="393192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283" name="连接线 283"/>
          <p:cNvCxnSpPr/>
          <p:nvPr/>
        </p:nvCxnSpPr>
        <p:spPr>
          <a:xfrm flipH="1">
            <a:off x="2167128" y="5934456"/>
            <a:ext cx="1133856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284" name="连接线 284"/>
          <p:cNvCxnSpPr/>
          <p:nvPr/>
        </p:nvCxnSpPr>
        <p:spPr>
          <a:xfrm flipV="1">
            <a:off x="2167128" y="5545836"/>
            <a:ext cx="1" cy="388620"/>
          </a:xfrm>
          <a:prstGeom prst="line">
            <a:avLst/>
          </a:prstGeom>
          <a:ln w="11430">
            <a:solidFill>
              <a:srgbClr val="315F82"/>
            </a:solidFill>
            <a:tailEnd type="triangle" w="sm" len="sm"/>
          </a:ln>
        </p:spPr>
      </p:cxnSp>
      <p:cxnSp>
        <p:nvCxnSpPr>
          <p:cNvPr id="285" name="连接线 285"/>
          <p:cNvCxnSpPr/>
          <p:nvPr/>
        </p:nvCxnSpPr>
        <p:spPr>
          <a:xfrm>
            <a:off x="3858768" y="6469380"/>
            <a:ext cx="804672" cy="1"/>
          </a:xfrm>
          <a:prstGeom prst="line">
            <a:avLst/>
          </a:prstGeom>
          <a:ln w="11430">
            <a:solidFill>
              <a:srgbClr val="986344"/>
            </a:solidFill>
          </a:ln>
        </p:spPr>
      </p:cxnSp>
      <p:cxnSp>
        <p:nvCxnSpPr>
          <p:cNvPr id="286" name="连接线 286"/>
          <p:cNvCxnSpPr/>
          <p:nvPr/>
        </p:nvCxnSpPr>
        <p:spPr>
          <a:xfrm flipV="1">
            <a:off x="4663440" y="4690872"/>
            <a:ext cx="1" cy="1778508"/>
          </a:xfrm>
          <a:prstGeom prst="line">
            <a:avLst/>
          </a:prstGeom>
          <a:ln w="11430">
            <a:solidFill>
              <a:srgbClr val="986344"/>
            </a:solidFill>
          </a:ln>
        </p:spPr>
      </p:cxnSp>
      <p:cxnSp>
        <p:nvCxnSpPr>
          <p:cNvPr id="287" name="连接线 287"/>
          <p:cNvCxnSpPr/>
          <p:nvPr/>
        </p:nvCxnSpPr>
        <p:spPr>
          <a:xfrm flipH="1">
            <a:off x="3451860" y="4690872"/>
            <a:ext cx="1211580" cy="1"/>
          </a:xfrm>
          <a:prstGeom prst="line">
            <a:avLst/>
          </a:prstGeom>
          <a:ln w="11430">
            <a:solidFill>
              <a:srgbClr val="986344"/>
            </a:solidFill>
            <a:tailEnd type="triangle" w="sm" len="sm"/>
          </a:ln>
        </p:spPr>
      </p:cxnSp>
      <p:sp>
        <p:nvSpPr>
          <p:cNvPr id="288" name="LSTM²"/>
          <p:cNvSpPr/>
          <p:nvPr/>
        </p:nvSpPr>
        <p:spPr>
          <a:xfrm>
            <a:off x="5486400" y="2313432"/>
            <a:ext cx="1115568" cy="6309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</a:t>
            </a:r>
            <a:endParaRPr lang="zh-CN" sz="1300"/>
          </a:p>
        </p:txBody>
      </p:sp>
      <p:sp>
        <p:nvSpPr>
          <p:cNvPr id="289" name="LSTM¹"/>
          <p:cNvSpPr/>
          <p:nvPr/>
        </p:nvSpPr>
        <p:spPr>
          <a:xfrm>
            <a:off x="5486400" y="3511296"/>
            <a:ext cx="1115568" cy="6309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</a:t>
            </a:r>
            <a:endParaRPr lang="zh-CN" sz="1300"/>
          </a:p>
        </p:txBody>
      </p:sp>
      <p:cxnSp>
        <p:nvCxnSpPr>
          <p:cNvPr id="290" name="连接线 290"/>
          <p:cNvCxnSpPr/>
          <p:nvPr/>
        </p:nvCxnSpPr>
        <p:spPr>
          <a:xfrm flipV="1">
            <a:off x="6044184" y="2944368"/>
            <a:ext cx="1" cy="566928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291" name="h₂⁽¹⁾ · Dropout 0.2"/>
          <p:cNvSpPr/>
          <p:nvPr/>
        </p:nvSpPr>
        <p:spPr>
          <a:xfrm>
            <a:off x="6153912" y="3136392"/>
            <a:ext cx="1755648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9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h₂⁽¹⁾ · Dropout 0.2</a:t>
            </a:r>
            <a:endParaRPr lang="zh-CN" sz="900"/>
          </a:p>
        </p:txBody>
      </p:sp>
      <p:sp>
        <p:nvSpPr>
          <p:cNvPr id="292" name="形状 292"/>
          <p:cNvSpPr/>
          <p:nvPr/>
        </p:nvSpPr>
        <p:spPr>
          <a:xfrm>
            <a:off x="4855464" y="5193792"/>
            <a:ext cx="2377440" cy="722376"/>
          </a:xfrm>
          <a:prstGeom prst="rect">
            <a:avLst/>
          </a:prstGeom>
          <a:noFill/>
          <a:ln w="11430">
            <a:solidFill>
              <a:srgbClr val="CDD6DD"/>
            </a:solidFill>
            <a:prstDash val="dash"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293" name="W₁, b₁"/>
          <p:cNvSpPr/>
          <p:nvPr/>
        </p:nvSpPr>
        <p:spPr>
          <a:xfrm>
            <a:off x="4910328" y="5303520"/>
            <a:ext cx="566928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W₁, b₁</a:t>
            </a:r>
            <a:endParaRPr lang="zh-CN" sz="900"/>
          </a:p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12 → 16</a:t>
            </a:r>
            <a:endParaRPr lang="zh-CN" sz="900"/>
          </a:p>
        </p:txBody>
      </p:sp>
      <p:sp>
        <p:nvSpPr>
          <p:cNvPr id="294" name="tanh"/>
          <p:cNvSpPr/>
          <p:nvPr/>
        </p:nvSpPr>
        <p:spPr>
          <a:xfrm>
            <a:off x="5532120" y="5303520"/>
            <a:ext cx="365760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900"/>
          </a:p>
        </p:txBody>
      </p:sp>
      <p:cxnSp>
        <p:nvCxnSpPr>
          <p:cNvPr id="295" name="连接线 295"/>
          <p:cNvCxnSpPr/>
          <p:nvPr/>
        </p:nvCxnSpPr>
        <p:spPr>
          <a:xfrm>
            <a:off x="5477256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sp>
        <p:nvSpPr>
          <p:cNvPr id="296" name="W₂, b₂"/>
          <p:cNvSpPr/>
          <p:nvPr/>
        </p:nvSpPr>
        <p:spPr>
          <a:xfrm>
            <a:off x="5952744" y="5303520"/>
            <a:ext cx="566928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W₂, b₂</a:t>
            </a:r>
            <a:endParaRPr lang="zh-CN" sz="900"/>
          </a:p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16 → 12</a:t>
            </a:r>
            <a:endParaRPr lang="zh-CN" sz="900"/>
          </a:p>
        </p:txBody>
      </p:sp>
      <p:cxnSp>
        <p:nvCxnSpPr>
          <p:cNvPr id="297" name="连接线 297"/>
          <p:cNvCxnSpPr/>
          <p:nvPr/>
        </p:nvCxnSpPr>
        <p:spPr>
          <a:xfrm>
            <a:off x="5897880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sp>
        <p:nvSpPr>
          <p:cNvPr id="298" name="Sigmoid"/>
          <p:cNvSpPr/>
          <p:nvPr/>
        </p:nvSpPr>
        <p:spPr>
          <a:xfrm>
            <a:off x="6574536" y="5303520"/>
            <a:ext cx="603504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Sigmoid</a:t>
            </a:r>
            <a:endParaRPr lang="zh-CN" sz="900"/>
          </a:p>
        </p:txBody>
      </p:sp>
      <p:cxnSp>
        <p:nvCxnSpPr>
          <p:cNvPr id="299" name="连接线 299"/>
          <p:cNvCxnSpPr/>
          <p:nvPr/>
        </p:nvCxnSpPr>
        <p:spPr>
          <a:xfrm>
            <a:off x="6519672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cxnSp>
        <p:nvCxnSpPr>
          <p:cNvPr id="300" name="连接线 300"/>
          <p:cNvCxnSpPr/>
          <p:nvPr/>
        </p:nvCxnSpPr>
        <p:spPr>
          <a:xfrm>
            <a:off x="7178040" y="5545836"/>
            <a:ext cx="118872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01" name="连接线 301"/>
          <p:cNvCxnSpPr/>
          <p:nvPr/>
        </p:nvCxnSpPr>
        <p:spPr>
          <a:xfrm flipV="1">
            <a:off x="7296912" y="5020056"/>
            <a:ext cx="1" cy="525780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02" name="连接线 302"/>
          <p:cNvCxnSpPr/>
          <p:nvPr/>
        </p:nvCxnSpPr>
        <p:spPr>
          <a:xfrm flipH="1">
            <a:off x="6044184" y="5020056"/>
            <a:ext cx="1252728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03" name="连接线 303"/>
          <p:cNvCxnSpPr/>
          <p:nvPr/>
        </p:nvCxnSpPr>
        <p:spPr>
          <a:xfrm flipV="1">
            <a:off x="6044184" y="4841748"/>
            <a:ext cx="1" cy="178308"/>
          </a:xfrm>
          <a:prstGeom prst="line">
            <a:avLst/>
          </a:prstGeom>
          <a:ln w="11430">
            <a:solidFill>
              <a:srgbClr val="315F82"/>
            </a:solidFill>
            <a:tailEnd type="triangle" w="sm" len="sm"/>
          </a:ln>
        </p:spPr>
      </p:cxnSp>
      <p:sp>
        <p:nvSpPr>
          <p:cNvPr id="304" name="⊙"/>
          <p:cNvSpPr/>
          <p:nvPr/>
        </p:nvSpPr>
        <p:spPr>
          <a:xfrm>
            <a:off x="5893308" y="4539996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305" name="连接线 305"/>
          <p:cNvCxnSpPr/>
          <p:nvPr/>
        </p:nvCxnSpPr>
        <p:spPr>
          <a:xfrm flipV="1">
            <a:off x="6044184" y="4142232"/>
            <a:ext cx="1" cy="397764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306" name="x₂ʷ"/>
          <p:cNvSpPr/>
          <p:nvPr/>
        </p:nvSpPr>
        <p:spPr>
          <a:xfrm>
            <a:off x="6227064" y="4297680"/>
            <a:ext cx="932688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x₂ʷ</a:t>
            </a:r>
            <a:endParaRPr lang="zh-CN" sz="1300"/>
          </a:p>
        </p:txBody>
      </p:sp>
      <p:sp>
        <p:nvSpPr>
          <p:cNvPr id="307" name="a₂"/>
          <p:cNvSpPr/>
          <p:nvPr/>
        </p:nvSpPr>
        <p:spPr>
          <a:xfrm>
            <a:off x="6208776" y="5029200"/>
            <a:ext cx="731520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100" b="0" i="0">
                <a:solidFill>
                  <a:srgbClr val="315F82"/>
                </a:solidFill>
                <a:latin typeface="Cambria Math"/>
                <a:ea typeface="宋体"/>
                <a:cs typeface="Times New Roman"/>
              </a:rPr>
              <a:t>a₂</a:t>
            </a:r>
            <a:endParaRPr lang="zh-CN" sz="1100"/>
          </a:p>
        </p:txBody>
      </p:sp>
      <p:sp>
        <p:nvSpPr>
          <p:cNvPr id="308" name="x̂₂"/>
          <p:cNvSpPr/>
          <p:nvPr/>
        </p:nvSpPr>
        <p:spPr>
          <a:xfrm>
            <a:off x="5486400" y="6327648"/>
            <a:ext cx="1115568" cy="283464"/>
          </a:xfrm>
          <a:prstGeom prst="rect">
            <a:avLst/>
          </a:prstGeom>
          <a:solidFill>
            <a:srgbClr val="F6F8FA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x̂₂</a:t>
            </a:r>
            <a:endParaRPr lang="zh-CN" sz="1300"/>
          </a:p>
        </p:txBody>
      </p:sp>
      <p:cxnSp>
        <p:nvCxnSpPr>
          <p:cNvPr id="309" name="连接线 309"/>
          <p:cNvCxnSpPr/>
          <p:nvPr/>
        </p:nvCxnSpPr>
        <p:spPr>
          <a:xfrm flipV="1">
            <a:off x="6044184" y="6611112"/>
            <a:ext cx="1" cy="274320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cxnSp>
        <p:nvCxnSpPr>
          <p:cNvPr id="310" name="连接线 310"/>
          <p:cNvCxnSpPr/>
          <p:nvPr/>
        </p:nvCxnSpPr>
        <p:spPr>
          <a:xfrm flipV="1">
            <a:off x="6044184" y="5934456"/>
            <a:ext cx="1" cy="393192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11" name="连接线 311"/>
          <p:cNvCxnSpPr/>
          <p:nvPr/>
        </p:nvCxnSpPr>
        <p:spPr>
          <a:xfrm flipH="1">
            <a:off x="4910328" y="5934456"/>
            <a:ext cx="1133856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12" name="连接线 312"/>
          <p:cNvCxnSpPr/>
          <p:nvPr/>
        </p:nvCxnSpPr>
        <p:spPr>
          <a:xfrm flipV="1">
            <a:off x="4910328" y="5545836"/>
            <a:ext cx="1" cy="388620"/>
          </a:xfrm>
          <a:prstGeom prst="line">
            <a:avLst/>
          </a:prstGeom>
          <a:ln w="11430">
            <a:solidFill>
              <a:srgbClr val="315F82"/>
            </a:solidFill>
            <a:tailEnd type="triangle" w="sm" len="sm"/>
          </a:ln>
        </p:spPr>
      </p:cxnSp>
      <p:cxnSp>
        <p:nvCxnSpPr>
          <p:cNvPr id="313" name="连接线 313"/>
          <p:cNvCxnSpPr/>
          <p:nvPr/>
        </p:nvCxnSpPr>
        <p:spPr>
          <a:xfrm>
            <a:off x="6601968" y="6469380"/>
            <a:ext cx="804672" cy="1"/>
          </a:xfrm>
          <a:prstGeom prst="line">
            <a:avLst/>
          </a:prstGeom>
          <a:ln w="11430">
            <a:solidFill>
              <a:srgbClr val="986344"/>
            </a:solidFill>
          </a:ln>
        </p:spPr>
      </p:cxnSp>
      <p:cxnSp>
        <p:nvCxnSpPr>
          <p:cNvPr id="314" name="连接线 314"/>
          <p:cNvCxnSpPr/>
          <p:nvPr/>
        </p:nvCxnSpPr>
        <p:spPr>
          <a:xfrm flipV="1">
            <a:off x="7406640" y="4690872"/>
            <a:ext cx="1" cy="1778508"/>
          </a:xfrm>
          <a:prstGeom prst="line">
            <a:avLst/>
          </a:prstGeom>
          <a:ln w="11430">
            <a:solidFill>
              <a:srgbClr val="986344"/>
            </a:solidFill>
          </a:ln>
        </p:spPr>
      </p:cxnSp>
      <p:cxnSp>
        <p:nvCxnSpPr>
          <p:cNvPr id="315" name="连接线 315"/>
          <p:cNvCxnSpPr/>
          <p:nvPr/>
        </p:nvCxnSpPr>
        <p:spPr>
          <a:xfrm flipH="1">
            <a:off x="6195060" y="4690872"/>
            <a:ext cx="1211580" cy="1"/>
          </a:xfrm>
          <a:prstGeom prst="line">
            <a:avLst/>
          </a:prstGeom>
          <a:ln w="11430">
            <a:solidFill>
              <a:srgbClr val="986344"/>
            </a:solidFill>
            <a:tailEnd type="triangle" w="sm" len="sm"/>
          </a:ln>
        </p:spPr>
      </p:cxnSp>
      <p:sp>
        <p:nvSpPr>
          <p:cNvPr id="316" name="LSTM²"/>
          <p:cNvSpPr/>
          <p:nvPr/>
        </p:nvSpPr>
        <p:spPr>
          <a:xfrm>
            <a:off x="9189720" y="2313432"/>
            <a:ext cx="1115568" cy="6309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19</a:t>
            </a:r>
            <a:endParaRPr lang="zh-CN" sz="1300"/>
          </a:p>
        </p:txBody>
      </p:sp>
      <p:sp>
        <p:nvSpPr>
          <p:cNvPr id="317" name="LSTM¹"/>
          <p:cNvSpPr/>
          <p:nvPr/>
        </p:nvSpPr>
        <p:spPr>
          <a:xfrm>
            <a:off x="9189720" y="3511296"/>
            <a:ext cx="1115568" cy="6309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19</a:t>
            </a:r>
            <a:endParaRPr lang="zh-CN" sz="1300"/>
          </a:p>
        </p:txBody>
      </p:sp>
      <p:cxnSp>
        <p:nvCxnSpPr>
          <p:cNvPr id="318" name="连接线 318"/>
          <p:cNvCxnSpPr/>
          <p:nvPr/>
        </p:nvCxnSpPr>
        <p:spPr>
          <a:xfrm flipV="1">
            <a:off x="9747504" y="2944368"/>
            <a:ext cx="1" cy="566928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19" name="h₁₉⁽¹⁾ · Dropout 0.2"/>
          <p:cNvSpPr/>
          <p:nvPr/>
        </p:nvSpPr>
        <p:spPr>
          <a:xfrm>
            <a:off x="9857232" y="3136392"/>
            <a:ext cx="1755648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9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h₁₉⁽¹⁾ · Dropout 0.2</a:t>
            </a:r>
            <a:endParaRPr lang="zh-CN" sz="900"/>
          </a:p>
        </p:txBody>
      </p:sp>
      <p:sp>
        <p:nvSpPr>
          <p:cNvPr id="320" name="形状 320"/>
          <p:cNvSpPr/>
          <p:nvPr/>
        </p:nvSpPr>
        <p:spPr>
          <a:xfrm>
            <a:off x="8558784" y="5193792"/>
            <a:ext cx="2377440" cy="722376"/>
          </a:xfrm>
          <a:prstGeom prst="rect">
            <a:avLst/>
          </a:prstGeom>
          <a:noFill/>
          <a:ln w="11430">
            <a:solidFill>
              <a:srgbClr val="CDD6DD"/>
            </a:solidFill>
            <a:prstDash val="dash"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21" name="W₁, b₁"/>
          <p:cNvSpPr/>
          <p:nvPr/>
        </p:nvSpPr>
        <p:spPr>
          <a:xfrm>
            <a:off x="8613648" y="5303520"/>
            <a:ext cx="566928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W₁, b₁</a:t>
            </a:r>
            <a:endParaRPr lang="zh-CN" sz="900"/>
          </a:p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12 → 16</a:t>
            </a:r>
            <a:endParaRPr lang="zh-CN" sz="900"/>
          </a:p>
        </p:txBody>
      </p:sp>
      <p:sp>
        <p:nvSpPr>
          <p:cNvPr id="322" name="tanh"/>
          <p:cNvSpPr/>
          <p:nvPr/>
        </p:nvSpPr>
        <p:spPr>
          <a:xfrm>
            <a:off x="9235440" y="5303520"/>
            <a:ext cx="365760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900"/>
          </a:p>
        </p:txBody>
      </p:sp>
      <p:cxnSp>
        <p:nvCxnSpPr>
          <p:cNvPr id="323" name="连接线 323"/>
          <p:cNvCxnSpPr/>
          <p:nvPr/>
        </p:nvCxnSpPr>
        <p:spPr>
          <a:xfrm>
            <a:off x="9180576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sp>
        <p:nvSpPr>
          <p:cNvPr id="324" name="W₂, b₂"/>
          <p:cNvSpPr/>
          <p:nvPr/>
        </p:nvSpPr>
        <p:spPr>
          <a:xfrm>
            <a:off x="9656064" y="5303520"/>
            <a:ext cx="566928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W₂, b₂</a:t>
            </a:r>
            <a:endParaRPr lang="zh-CN" sz="900"/>
          </a:p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16 → 12</a:t>
            </a:r>
            <a:endParaRPr lang="zh-CN" sz="900"/>
          </a:p>
        </p:txBody>
      </p:sp>
      <p:cxnSp>
        <p:nvCxnSpPr>
          <p:cNvPr id="325" name="连接线 325"/>
          <p:cNvCxnSpPr/>
          <p:nvPr/>
        </p:nvCxnSpPr>
        <p:spPr>
          <a:xfrm>
            <a:off x="9601200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sp>
        <p:nvSpPr>
          <p:cNvPr id="326" name="Sigmoid"/>
          <p:cNvSpPr/>
          <p:nvPr/>
        </p:nvSpPr>
        <p:spPr>
          <a:xfrm>
            <a:off x="10277856" y="5303520"/>
            <a:ext cx="603504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Sigmoid</a:t>
            </a:r>
            <a:endParaRPr lang="zh-CN" sz="900"/>
          </a:p>
        </p:txBody>
      </p:sp>
      <p:cxnSp>
        <p:nvCxnSpPr>
          <p:cNvPr id="327" name="连接线 327"/>
          <p:cNvCxnSpPr/>
          <p:nvPr/>
        </p:nvCxnSpPr>
        <p:spPr>
          <a:xfrm>
            <a:off x="10222992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cxnSp>
        <p:nvCxnSpPr>
          <p:cNvPr id="328" name="连接线 328"/>
          <p:cNvCxnSpPr/>
          <p:nvPr/>
        </p:nvCxnSpPr>
        <p:spPr>
          <a:xfrm>
            <a:off x="10881360" y="5545836"/>
            <a:ext cx="118872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29" name="连接线 329"/>
          <p:cNvCxnSpPr/>
          <p:nvPr/>
        </p:nvCxnSpPr>
        <p:spPr>
          <a:xfrm flipV="1">
            <a:off x="11000232" y="5020056"/>
            <a:ext cx="1" cy="525780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30" name="连接线 330"/>
          <p:cNvCxnSpPr/>
          <p:nvPr/>
        </p:nvCxnSpPr>
        <p:spPr>
          <a:xfrm flipH="1">
            <a:off x="9747504" y="5020056"/>
            <a:ext cx="1252728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31" name="连接线 331"/>
          <p:cNvCxnSpPr/>
          <p:nvPr/>
        </p:nvCxnSpPr>
        <p:spPr>
          <a:xfrm flipV="1">
            <a:off x="9747504" y="4841748"/>
            <a:ext cx="1" cy="178308"/>
          </a:xfrm>
          <a:prstGeom prst="line">
            <a:avLst/>
          </a:prstGeom>
          <a:ln w="11430">
            <a:solidFill>
              <a:srgbClr val="315F82"/>
            </a:solidFill>
            <a:tailEnd type="triangle" w="sm" len="sm"/>
          </a:ln>
        </p:spPr>
      </p:cxnSp>
      <p:sp>
        <p:nvSpPr>
          <p:cNvPr id="332" name="⊙"/>
          <p:cNvSpPr/>
          <p:nvPr/>
        </p:nvSpPr>
        <p:spPr>
          <a:xfrm>
            <a:off x="9596628" y="4539996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333" name="连接线 333"/>
          <p:cNvCxnSpPr/>
          <p:nvPr/>
        </p:nvCxnSpPr>
        <p:spPr>
          <a:xfrm flipV="1">
            <a:off x="9747504" y="4142232"/>
            <a:ext cx="1" cy="397764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334" name="x₁₉ʷ"/>
          <p:cNvSpPr/>
          <p:nvPr/>
        </p:nvSpPr>
        <p:spPr>
          <a:xfrm>
            <a:off x="9930384" y="4297680"/>
            <a:ext cx="932688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x₁₉ʷ</a:t>
            </a:r>
            <a:endParaRPr lang="zh-CN" sz="1300"/>
          </a:p>
        </p:txBody>
      </p:sp>
      <p:sp>
        <p:nvSpPr>
          <p:cNvPr id="335" name="a₁₉"/>
          <p:cNvSpPr/>
          <p:nvPr/>
        </p:nvSpPr>
        <p:spPr>
          <a:xfrm>
            <a:off x="9912096" y="5029200"/>
            <a:ext cx="731520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100" b="0" i="0">
                <a:solidFill>
                  <a:srgbClr val="315F82"/>
                </a:solidFill>
                <a:latin typeface="Cambria Math"/>
                <a:ea typeface="宋体"/>
                <a:cs typeface="Times New Roman"/>
              </a:rPr>
              <a:t>a₁₉</a:t>
            </a:r>
            <a:endParaRPr lang="zh-CN" sz="1100"/>
          </a:p>
        </p:txBody>
      </p:sp>
      <p:sp>
        <p:nvSpPr>
          <p:cNvPr id="336" name="x̂₁₉"/>
          <p:cNvSpPr/>
          <p:nvPr/>
        </p:nvSpPr>
        <p:spPr>
          <a:xfrm>
            <a:off x="9189720" y="6327648"/>
            <a:ext cx="1115568" cy="283464"/>
          </a:xfrm>
          <a:prstGeom prst="rect">
            <a:avLst/>
          </a:prstGeom>
          <a:solidFill>
            <a:srgbClr val="F6F8FA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x̂₁₉</a:t>
            </a:r>
            <a:endParaRPr lang="zh-CN" sz="1300"/>
          </a:p>
        </p:txBody>
      </p:sp>
      <p:cxnSp>
        <p:nvCxnSpPr>
          <p:cNvPr id="337" name="连接线 337"/>
          <p:cNvCxnSpPr/>
          <p:nvPr/>
        </p:nvCxnSpPr>
        <p:spPr>
          <a:xfrm flipV="1">
            <a:off x="9747504" y="6611112"/>
            <a:ext cx="1" cy="274320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cxnSp>
        <p:nvCxnSpPr>
          <p:cNvPr id="338" name="连接线 338"/>
          <p:cNvCxnSpPr/>
          <p:nvPr/>
        </p:nvCxnSpPr>
        <p:spPr>
          <a:xfrm flipV="1">
            <a:off x="9747504" y="5934456"/>
            <a:ext cx="1" cy="393192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39" name="连接线 339"/>
          <p:cNvCxnSpPr/>
          <p:nvPr/>
        </p:nvCxnSpPr>
        <p:spPr>
          <a:xfrm flipH="1">
            <a:off x="8613648" y="5934456"/>
            <a:ext cx="1133856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40" name="连接线 340"/>
          <p:cNvCxnSpPr/>
          <p:nvPr/>
        </p:nvCxnSpPr>
        <p:spPr>
          <a:xfrm flipV="1">
            <a:off x="8613648" y="5545836"/>
            <a:ext cx="1" cy="388620"/>
          </a:xfrm>
          <a:prstGeom prst="line">
            <a:avLst/>
          </a:prstGeom>
          <a:ln w="11430">
            <a:solidFill>
              <a:srgbClr val="315F82"/>
            </a:solidFill>
            <a:tailEnd type="triangle" w="sm" len="sm"/>
          </a:ln>
        </p:spPr>
      </p:cxnSp>
      <p:cxnSp>
        <p:nvCxnSpPr>
          <p:cNvPr id="341" name="连接线 341"/>
          <p:cNvCxnSpPr/>
          <p:nvPr/>
        </p:nvCxnSpPr>
        <p:spPr>
          <a:xfrm>
            <a:off x="10305288" y="6469380"/>
            <a:ext cx="804672" cy="1"/>
          </a:xfrm>
          <a:prstGeom prst="line">
            <a:avLst/>
          </a:prstGeom>
          <a:ln w="11430">
            <a:solidFill>
              <a:srgbClr val="986344"/>
            </a:solidFill>
          </a:ln>
        </p:spPr>
      </p:cxnSp>
      <p:cxnSp>
        <p:nvCxnSpPr>
          <p:cNvPr id="342" name="连接线 342"/>
          <p:cNvCxnSpPr/>
          <p:nvPr/>
        </p:nvCxnSpPr>
        <p:spPr>
          <a:xfrm flipV="1">
            <a:off x="11109960" y="4690872"/>
            <a:ext cx="1" cy="1778508"/>
          </a:xfrm>
          <a:prstGeom prst="line">
            <a:avLst/>
          </a:prstGeom>
          <a:ln w="11430">
            <a:solidFill>
              <a:srgbClr val="986344"/>
            </a:solidFill>
          </a:ln>
        </p:spPr>
      </p:cxnSp>
      <p:cxnSp>
        <p:nvCxnSpPr>
          <p:cNvPr id="343" name="连接线 343"/>
          <p:cNvCxnSpPr/>
          <p:nvPr/>
        </p:nvCxnSpPr>
        <p:spPr>
          <a:xfrm flipH="1">
            <a:off x="9898380" y="4690872"/>
            <a:ext cx="1211580" cy="1"/>
          </a:xfrm>
          <a:prstGeom prst="line">
            <a:avLst/>
          </a:prstGeom>
          <a:ln w="11430">
            <a:solidFill>
              <a:srgbClr val="986344"/>
            </a:solidFill>
            <a:tailEnd type="triangle" w="sm" len="sm"/>
          </a:ln>
        </p:spPr>
      </p:cxnSp>
      <p:sp>
        <p:nvSpPr>
          <p:cNvPr id="344" name="LSTM²"/>
          <p:cNvSpPr/>
          <p:nvPr/>
        </p:nvSpPr>
        <p:spPr>
          <a:xfrm>
            <a:off x="11887200" y="2313432"/>
            <a:ext cx="1115568" cy="6309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LSTM²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20</a:t>
            </a:r>
            <a:endParaRPr lang="zh-CN" sz="1300"/>
          </a:p>
        </p:txBody>
      </p:sp>
      <p:sp>
        <p:nvSpPr>
          <p:cNvPr id="345" name="LSTM¹"/>
          <p:cNvSpPr/>
          <p:nvPr/>
        </p:nvSpPr>
        <p:spPr>
          <a:xfrm>
            <a:off x="11887200" y="3511296"/>
            <a:ext cx="1115568" cy="6309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LSTM¹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k = 20</a:t>
            </a:r>
            <a:endParaRPr lang="zh-CN" sz="1300"/>
          </a:p>
        </p:txBody>
      </p:sp>
      <p:cxnSp>
        <p:nvCxnSpPr>
          <p:cNvPr id="346" name="连接线 346"/>
          <p:cNvCxnSpPr/>
          <p:nvPr/>
        </p:nvCxnSpPr>
        <p:spPr>
          <a:xfrm flipV="1">
            <a:off x="12444984" y="2944368"/>
            <a:ext cx="1" cy="566928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47" name="h₂₀⁽¹⁾ · Dropout 0.2"/>
          <p:cNvSpPr/>
          <p:nvPr/>
        </p:nvSpPr>
        <p:spPr>
          <a:xfrm>
            <a:off x="12554712" y="3136392"/>
            <a:ext cx="1755648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9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h₂₀⁽¹⁾ · Dropout 0.2</a:t>
            </a:r>
            <a:endParaRPr lang="zh-CN" sz="900"/>
          </a:p>
        </p:txBody>
      </p:sp>
      <p:sp>
        <p:nvSpPr>
          <p:cNvPr id="348" name="形状 348"/>
          <p:cNvSpPr/>
          <p:nvPr/>
        </p:nvSpPr>
        <p:spPr>
          <a:xfrm>
            <a:off x="11256264" y="5193792"/>
            <a:ext cx="2377440" cy="722376"/>
          </a:xfrm>
          <a:prstGeom prst="rect">
            <a:avLst/>
          </a:prstGeom>
          <a:noFill/>
          <a:ln w="11430">
            <a:solidFill>
              <a:srgbClr val="CDD6DD"/>
            </a:solidFill>
            <a:prstDash val="dash"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49" name="W₁, b₁"/>
          <p:cNvSpPr/>
          <p:nvPr/>
        </p:nvSpPr>
        <p:spPr>
          <a:xfrm>
            <a:off x="11311128" y="5303520"/>
            <a:ext cx="566928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W₁, b₁</a:t>
            </a:r>
            <a:endParaRPr lang="zh-CN" sz="900"/>
          </a:p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12 → 16</a:t>
            </a:r>
            <a:endParaRPr lang="zh-CN" sz="900"/>
          </a:p>
        </p:txBody>
      </p:sp>
      <p:sp>
        <p:nvSpPr>
          <p:cNvPr id="350" name="tanh"/>
          <p:cNvSpPr/>
          <p:nvPr/>
        </p:nvSpPr>
        <p:spPr>
          <a:xfrm>
            <a:off x="11932920" y="5303520"/>
            <a:ext cx="365760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900"/>
          </a:p>
        </p:txBody>
      </p:sp>
      <p:cxnSp>
        <p:nvCxnSpPr>
          <p:cNvPr id="351" name="连接线 351"/>
          <p:cNvCxnSpPr/>
          <p:nvPr/>
        </p:nvCxnSpPr>
        <p:spPr>
          <a:xfrm>
            <a:off x="11878056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sp>
        <p:nvSpPr>
          <p:cNvPr id="352" name="W₂, b₂"/>
          <p:cNvSpPr/>
          <p:nvPr/>
        </p:nvSpPr>
        <p:spPr>
          <a:xfrm>
            <a:off x="12353544" y="5303520"/>
            <a:ext cx="566928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W₂, b₂</a:t>
            </a:r>
            <a:endParaRPr lang="zh-CN" sz="900"/>
          </a:p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16 → 12</a:t>
            </a:r>
            <a:endParaRPr lang="zh-CN" sz="900"/>
          </a:p>
        </p:txBody>
      </p:sp>
      <p:cxnSp>
        <p:nvCxnSpPr>
          <p:cNvPr id="353" name="连接线 353"/>
          <p:cNvCxnSpPr/>
          <p:nvPr/>
        </p:nvCxnSpPr>
        <p:spPr>
          <a:xfrm>
            <a:off x="12298680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sp>
        <p:nvSpPr>
          <p:cNvPr id="354" name="Sigmoid"/>
          <p:cNvSpPr/>
          <p:nvPr/>
        </p:nvSpPr>
        <p:spPr>
          <a:xfrm>
            <a:off x="12975336" y="5303520"/>
            <a:ext cx="603504" cy="48463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9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Sigmoid</a:t>
            </a:r>
            <a:endParaRPr lang="zh-CN" sz="900"/>
          </a:p>
        </p:txBody>
      </p:sp>
      <p:cxnSp>
        <p:nvCxnSpPr>
          <p:cNvPr id="355" name="连接线 355"/>
          <p:cNvCxnSpPr/>
          <p:nvPr/>
        </p:nvCxnSpPr>
        <p:spPr>
          <a:xfrm>
            <a:off x="12920472" y="5545836"/>
            <a:ext cx="54864" cy="1"/>
          </a:xfrm>
          <a:prstGeom prst="line">
            <a:avLst/>
          </a:prstGeom>
          <a:ln w="9525">
            <a:solidFill>
              <a:srgbClr val="315F82"/>
            </a:solidFill>
            <a:tailEnd type="triangle" w="sm" len="sm"/>
          </a:ln>
        </p:spPr>
      </p:cxnSp>
      <p:cxnSp>
        <p:nvCxnSpPr>
          <p:cNvPr id="356" name="连接线 356"/>
          <p:cNvCxnSpPr/>
          <p:nvPr/>
        </p:nvCxnSpPr>
        <p:spPr>
          <a:xfrm>
            <a:off x="13578840" y="5545836"/>
            <a:ext cx="118872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57" name="连接线 357"/>
          <p:cNvCxnSpPr/>
          <p:nvPr/>
        </p:nvCxnSpPr>
        <p:spPr>
          <a:xfrm flipV="1">
            <a:off x="13697712" y="5020056"/>
            <a:ext cx="1" cy="525780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58" name="连接线 358"/>
          <p:cNvCxnSpPr/>
          <p:nvPr/>
        </p:nvCxnSpPr>
        <p:spPr>
          <a:xfrm flipH="1">
            <a:off x="12444984" y="5020056"/>
            <a:ext cx="1252728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59" name="连接线 359"/>
          <p:cNvCxnSpPr/>
          <p:nvPr/>
        </p:nvCxnSpPr>
        <p:spPr>
          <a:xfrm flipV="1">
            <a:off x="12444984" y="4841748"/>
            <a:ext cx="1" cy="178308"/>
          </a:xfrm>
          <a:prstGeom prst="line">
            <a:avLst/>
          </a:prstGeom>
          <a:ln w="11430">
            <a:solidFill>
              <a:srgbClr val="315F82"/>
            </a:solidFill>
            <a:tailEnd type="triangle" w="sm" len="sm"/>
          </a:ln>
        </p:spPr>
      </p:cxnSp>
      <p:sp>
        <p:nvSpPr>
          <p:cNvPr id="360" name="⊙"/>
          <p:cNvSpPr/>
          <p:nvPr/>
        </p:nvSpPr>
        <p:spPr>
          <a:xfrm>
            <a:off x="12294108" y="4539996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361" name="连接线 361"/>
          <p:cNvCxnSpPr/>
          <p:nvPr/>
        </p:nvCxnSpPr>
        <p:spPr>
          <a:xfrm flipV="1">
            <a:off x="12444984" y="4142232"/>
            <a:ext cx="1" cy="397764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362" name="x₂₀ʷ"/>
          <p:cNvSpPr/>
          <p:nvPr/>
        </p:nvSpPr>
        <p:spPr>
          <a:xfrm>
            <a:off x="12627864" y="4297680"/>
            <a:ext cx="932688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x₂₀ʷ</a:t>
            </a:r>
            <a:endParaRPr lang="zh-CN" sz="1300"/>
          </a:p>
        </p:txBody>
      </p:sp>
      <p:sp>
        <p:nvSpPr>
          <p:cNvPr id="363" name="a₂₀"/>
          <p:cNvSpPr/>
          <p:nvPr/>
        </p:nvSpPr>
        <p:spPr>
          <a:xfrm>
            <a:off x="12609576" y="5029200"/>
            <a:ext cx="731520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100" b="0" i="0">
                <a:solidFill>
                  <a:srgbClr val="315F82"/>
                </a:solidFill>
                <a:latin typeface="Cambria Math"/>
                <a:ea typeface="宋体"/>
                <a:cs typeface="Times New Roman"/>
              </a:rPr>
              <a:t>a₂₀</a:t>
            </a:r>
            <a:endParaRPr lang="zh-CN" sz="1100"/>
          </a:p>
        </p:txBody>
      </p:sp>
      <p:sp>
        <p:nvSpPr>
          <p:cNvPr id="364" name="x̂₂₀"/>
          <p:cNvSpPr/>
          <p:nvPr/>
        </p:nvSpPr>
        <p:spPr>
          <a:xfrm>
            <a:off x="11887200" y="6327648"/>
            <a:ext cx="1115568" cy="283464"/>
          </a:xfrm>
          <a:prstGeom prst="rect">
            <a:avLst/>
          </a:prstGeom>
          <a:solidFill>
            <a:srgbClr val="F6F8FA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x̂₂₀</a:t>
            </a:r>
            <a:endParaRPr lang="zh-CN" sz="1300"/>
          </a:p>
        </p:txBody>
      </p:sp>
      <p:cxnSp>
        <p:nvCxnSpPr>
          <p:cNvPr id="365" name="连接线 365"/>
          <p:cNvCxnSpPr/>
          <p:nvPr/>
        </p:nvCxnSpPr>
        <p:spPr>
          <a:xfrm flipV="1">
            <a:off x="12444984" y="6611112"/>
            <a:ext cx="1" cy="274320"/>
          </a:xfrm>
          <a:prstGeom prst="line">
            <a:avLst/>
          </a:prstGeom>
          <a:ln w="15240">
            <a:solidFill>
              <a:srgbClr val="986344"/>
            </a:solidFill>
            <a:tailEnd type="triangle" w="sm" len="sm"/>
          </a:ln>
        </p:spPr>
      </p:cxnSp>
      <p:cxnSp>
        <p:nvCxnSpPr>
          <p:cNvPr id="366" name="连接线 366"/>
          <p:cNvCxnSpPr/>
          <p:nvPr/>
        </p:nvCxnSpPr>
        <p:spPr>
          <a:xfrm flipV="1">
            <a:off x="12444984" y="5934456"/>
            <a:ext cx="1" cy="393192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67" name="连接线 367"/>
          <p:cNvCxnSpPr/>
          <p:nvPr/>
        </p:nvCxnSpPr>
        <p:spPr>
          <a:xfrm flipH="1">
            <a:off x="11311128" y="5934456"/>
            <a:ext cx="1133856" cy="1"/>
          </a:xfrm>
          <a:prstGeom prst="line">
            <a:avLst/>
          </a:prstGeom>
          <a:ln w="11430">
            <a:solidFill>
              <a:srgbClr val="315F82"/>
            </a:solidFill>
          </a:ln>
        </p:spPr>
      </p:cxnSp>
      <p:cxnSp>
        <p:nvCxnSpPr>
          <p:cNvPr id="368" name="连接线 368"/>
          <p:cNvCxnSpPr/>
          <p:nvPr/>
        </p:nvCxnSpPr>
        <p:spPr>
          <a:xfrm flipV="1">
            <a:off x="11311128" y="5545836"/>
            <a:ext cx="1" cy="388620"/>
          </a:xfrm>
          <a:prstGeom prst="line">
            <a:avLst/>
          </a:prstGeom>
          <a:ln w="11430">
            <a:solidFill>
              <a:srgbClr val="315F82"/>
            </a:solidFill>
            <a:tailEnd type="triangle" w="sm" len="sm"/>
          </a:ln>
        </p:spPr>
      </p:cxnSp>
      <p:cxnSp>
        <p:nvCxnSpPr>
          <p:cNvPr id="369" name="连接线 369"/>
          <p:cNvCxnSpPr/>
          <p:nvPr/>
        </p:nvCxnSpPr>
        <p:spPr>
          <a:xfrm>
            <a:off x="13002768" y="6469380"/>
            <a:ext cx="804672" cy="1"/>
          </a:xfrm>
          <a:prstGeom prst="line">
            <a:avLst/>
          </a:prstGeom>
          <a:ln w="11430">
            <a:solidFill>
              <a:srgbClr val="986344"/>
            </a:solidFill>
          </a:ln>
        </p:spPr>
      </p:cxnSp>
      <p:cxnSp>
        <p:nvCxnSpPr>
          <p:cNvPr id="370" name="连接线 370"/>
          <p:cNvCxnSpPr/>
          <p:nvPr/>
        </p:nvCxnSpPr>
        <p:spPr>
          <a:xfrm flipV="1">
            <a:off x="13807440" y="4690872"/>
            <a:ext cx="1" cy="1778508"/>
          </a:xfrm>
          <a:prstGeom prst="line">
            <a:avLst/>
          </a:prstGeom>
          <a:ln w="11430">
            <a:solidFill>
              <a:srgbClr val="986344"/>
            </a:solidFill>
          </a:ln>
        </p:spPr>
      </p:cxnSp>
      <p:cxnSp>
        <p:nvCxnSpPr>
          <p:cNvPr id="371" name="连接线 371"/>
          <p:cNvCxnSpPr/>
          <p:nvPr/>
        </p:nvCxnSpPr>
        <p:spPr>
          <a:xfrm flipH="1">
            <a:off x="12595860" y="4690872"/>
            <a:ext cx="1211580" cy="1"/>
          </a:xfrm>
          <a:prstGeom prst="line">
            <a:avLst/>
          </a:prstGeom>
          <a:ln w="11430">
            <a:solidFill>
              <a:srgbClr val="986344"/>
            </a:solidFill>
            <a:tailEnd type="triangle" w="sm" len="sm"/>
          </a:ln>
        </p:spPr>
      </p:cxnSp>
      <p:cxnSp>
        <p:nvCxnSpPr>
          <p:cNvPr id="372" name="连接线 372"/>
          <p:cNvCxnSpPr/>
          <p:nvPr/>
        </p:nvCxnSpPr>
        <p:spPr>
          <a:xfrm>
            <a:off x="2395728" y="2628900"/>
            <a:ext cx="347472" cy="1"/>
          </a:xfrm>
          <a:prstGeom prst="line">
            <a:avLst/>
          </a:prstGeom>
          <a:ln w="15240">
            <a:solidFill>
              <a:srgbClr val="5C6974"/>
            </a:solidFill>
            <a:prstDash val="dash"/>
            <a:tailEnd type="triangle" w="sm" len="sm"/>
          </a:ln>
        </p:spPr>
      </p:cxnSp>
      <p:cxnSp>
        <p:nvCxnSpPr>
          <p:cNvPr id="373" name="连接线 373"/>
          <p:cNvCxnSpPr/>
          <p:nvPr/>
        </p:nvCxnSpPr>
        <p:spPr>
          <a:xfrm>
            <a:off x="3858768" y="2628900"/>
            <a:ext cx="1627632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74" name="h₁⁽²⁾, c₁⁽²⁾"/>
          <p:cNvSpPr/>
          <p:nvPr/>
        </p:nvSpPr>
        <p:spPr>
          <a:xfrm>
            <a:off x="3904488" y="2084832"/>
            <a:ext cx="1536192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h₁⁽²⁾, c₁⁽²⁾</a:t>
            </a:r>
            <a:endParaRPr lang="zh-CN" sz="1000"/>
          </a:p>
        </p:txBody>
      </p:sp>
      <p:cxnSp>
        <p:nvCxnSpPr>
          <p:cNvPr id="375" name="连接线 375"/>
          <p:cNvCxnSpPr/>
          <p:nvPr/>
        </p:nvCxnSpPr>
        <p:spPr>
          <a:xfrm>
            <a:off x="10305288" y="2628900"/>
            <a:ext cx="1581912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76" name="h₁₉⁽²⁾, c₁₉⁽²⁾"/>
          <p:cNvSpPr/>
          <p:nvPr/>
        </p:nvSpPr>
        <p:spPr>
          <a:xfrm>
            <a:off x="10351008" y="2084832"/>
            <a:ext cx="1490472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h₁₉⁽²⁾, c₁₉⁽²⁾</a:t>
            </a:r>
            <a:endParaRPr lang="zh-CN" sz="1000"/>
          </a:p>
        </p:txBody>
      </p:sp>
      <p:cxnSp>
        <p:nvCxnSpPr>
          <p:cNvPr id="377" name="连接线 377"/>
          <p:cNvCxnSpPr/>
          <p:nvPr/>
        </p:nvCxnSpPr>
        <p:spPr>
          <a:xfrm>
            <a:off x="6601968" y="2628900"/>
            <a:ext cx="1042416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78" name="⋯"/>
          <p:cNvSpPr/>
          <p:nvPr/>
        </p:nvSpPr>
        <p:spPr>
          <a:xfrm>
            <a:off x="7644384" y="2395728"/>
            <a:ext cx="777240" cy="37490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2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⋯</a:t>
            </a:r>
            <a:endParaRPr lang="zh-CN" sz="2400"/>
          </a:p>
        </p:txBody>
      </p:sp>
      <p:cxnSp>
        <p:nvCxnSpPr>
          <p:cNvPr id="379" name="连接线 379"/>
          <p:cNvCxnSpPr/>
          <p:nvPr/>
        </p:nvCxnSpPr>
        <p:spPr>
          <a:xfrm>
            <a:off x="8357616" y="2628900"/>
            <a:ext cx="83210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380" name="连接线 380"/>
          <p:cNvCxnSpPr/>
          <p:nvPr/>
        </p:nvCxnSpPr>
        <p:spPr>
          <a:xfrm>
            <a:off x="2395728" y="3826764"/>
            <a:ext cx="347472" cy="1"/>
          </a:xfrm>
          <a:prstGeom prst="line">
            <a:avLst/>
          </a:prstGeom>
          <a:ln w="15240">
            <a:solidFill>
              <a:srgbClr val="5C6974"/>
            </a:solidFill>
            <a:prstDash val="dash"/>
            <a:tailEnd type="triangle" w="sm" len="sm"/>
          </a:ln>
        </p:spPr>
      </p:cxnSp>
      <p:cxnSp>
        <p:nvCxnSpPr>
          <p:cNvPr id="381" name="连接线 381"/>
          <p:cNvCxnSpPr/>
          <p:nvPr/>
        </p:nvCxnSpPr>
        <p:spPr>
          <a:xfrm>
            <a:off x="3858768" y="3826764"/>
            <a:ext cx="1627632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82" name="h₁⁽¹⁾, c₁⁽¹⁾"/>
          <p:cNvSpPr/>
          <p:nvPr/>
        </p:nvSpPr>
        <p:spPr>
          <a:xfrm>
            <a:off x="3904488" y="3282696"/>
            <a:ext cx="1536192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h₁⁽¹⁾, c₁⁽¹⁾</a:t>
            </a:r>
            <a:endParaRPr lang="zh-CN" sz="1000"/>
          </a:p>
        </p:txBody>
      </p:sp>
      <p:cxnSp>
        <p:nvCxnSpPr>
          <p:cNvPr id="383" name="连接线 383"/>
          <p:cNvCxnSpPr/>
          <p:nvPr/>
        </p:nvCxnSpPr>
        <p:spPr>
          <a:xfrm>
            <a:off x="10305288" y="3826764"/>
            <a:ext cx="1581912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84" name="h₁₉⁽¹⁾, c₁₉⁽¹⁾"/>
          <p:cNvSpPr/>
          <p:nvPr/>
        </p:nvSpPr>
        <p:spPr>
          <a:xfrm>
            <a:off x="10351008" y="3282696"/>
            <a:ext cx="1490472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h₁₉⁽¹⁾, c₁₉⁽¹⁾</a:t>
            </a:r>
            <a:endParaRPr lang="zh-CN" sz="1000"/>
          </a:p>
        </p:txBody>
      </p:sp>
      <p:cxnSp>
        <p:nvCxnSpPr>
          <p:cNvPr id="385" name="连接线 385"/>
          <p:cNvCxnSpPr/>
          <p:nvPr/>
        </p:nvCxnSpPr>
        <p:spPr>
          <a:xfrm>
            <a:off x="6601968" y="3826764"/>
            <a:ext cx="1042416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86" name="⋯"/>
          <p:cNvSpPr/>
          <p:nvPr/>
        </p:nvSpPr>
        <p:spPr>
          <a:xfrm>
            <a:off x="7644384" y="3593592"/>
            <a:ext cx="777240" cy="37490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2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⋯</a:t>
            </a:r>
            <a:endParaRPr lang="zh-CN" sz="2400"/>
          </a:p>
        </p:txBody>
      </p:sp>
      <p:cxnSp>
        <p:nvCxnSpPr>
          <p:cNvPr id="387" name="连接线 387"/>
          <p:cNvCxnSpPr/>
          <p:nvPr/>
        </p:nvCxnSpPr>
        <p:spPr>
          <a:xfrm>
            <a:off x="8357616" y="3826764"/>
            <a:ext cx="832104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88" name="形状 388"/>
          <p:cNvSpPr/>
          <p:nvPr/>
        </p:nvSpPr>
        <p:spPr>
          <a:xfrm>
            <a:off x="2670048" y="3447288"/>
            <a:ext cx="1261872" cy="758952"/>
          </a:xfrm>
          <a:prstGeom prst="rect">
            <a:avLst/>
          </a:prstGeom>
          <a:noFill/>
          <a:ln w="11430">
            <a:solidFill>
              <a:srgbClr val="986344"/>
            </a:solidFill>
            <a:prstDash val="dash"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389" name="r = h₂₀⁽²⁾"/>
          <p:cNvSpPr/>
          <p:nvPr/>
        </p:nvSpPr>
        <p:spPr>
          <a:xfrm>
            <a:off x="13322808" y="2313432"/>
            <a:ext cx="1197864" cy="630936"/>
          </a:xfrm>
          <a:prstGeom prst="rect">
            <a:avLst/>
          </a:prstGeom>
          <a:solidFill>
            <a:srgbClr val="F6F8FA"/>
          </a:solidFill>
          <a:ln w="11430">
            <a:solidFill>
              <a:srgbClr val="667785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r = h₂₀⁽²⁾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64维表征</a:t>
            </a:r>
            <a:endParaRPr lang="zh-CN" sz="1300"/>
          </a:p>
        </p:txBody>
      </p:sp>
      <p:cxnSp>
        <p:nvCxnSpPr>
          <p:cNvPr id="390" name="连接线 390"/>
          <p:cNvCxnSpPr/>
          <p:nvPr/>
        </p:nvCxnSpPr>
        <p:spPr>
          <a:xfrm>
            <a:off x="13002768" y="2628900"/>
            <a:ext cx="320040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391" name="64 → 32 + ReLU"/>
          <p:cNvSpPr/>
          <p:nvPr/>
        </p:nvSpPr>
        <p:spPr>
          <a:xfrm>
            <a:off x="14977872" y="2249424"/>
            <a:ext cx="2441448" cy="1014984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64 → 32 + ReLU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Dropout 0.3</a:t>
            </a:r>
            <a:endParaRPr lang="zh-CN" sz="1300"/>
          </a:p>
          <a:p>
            <a:pPr algn="ctr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32 → 1 + Sigmoid</a:t>
            </a:r>
            <a:endParaRPr lang="zh-CN" sz="1300"/>
          </a:p>
        </p:txBody>
      </p:sp>
      <p:cxnSp>
        <p:nvCxnSpPr>
          <p:cNvPr id="392" name="连接线 392"/>
          <p:cNvCxnSpPr/>
          <p:nvPr/>
        </p:nvCxnSpPr>
        <p:spPr>
          <a:xfrm>
            <a:off x="14520672" y="2628900"/>
            <a:ext cx="457200" cy="1"/>
          </a:xfrm>
          <a:prstGeom prst="line">
            <a:avLst/>
          </a:prstGeom>
          <a:ln w="15240">
            <a:solidFill>
              <a:srgbClr val="667785"/>
            </a:solidFill>
            <a:tailEnd type="triangle" w="sm" len="sm"/>
          </a:ln>
        </p:spPr>
      </p:cxnSp>
      <p:sp>
        <p:nvSpPr>
          <p:cNvPr id="393" name="未来1 s障碍物碰撞风险"/>
          <p:cNvSpPr/>
          <p:nvPr/>
        </p:nvSpPr>
        <p:spPr>
          <a:xfrm>
            <a:off x="14977872" y="3538728"/>
            <a:ext cx="2441448" cy="530352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未来1 s障碍物碰撞风险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pₜ ∈ [0,1]</a:t>
            </a:r>
            <a:endParaRPr lang="zh-CN" sz="1200"/>
          </a:p>
        </p:txBody>
      </p:sp>
      <p:cxnSp>
        <p:nvCxnSpPr>
          <p:cNvPr id="394" name="连接线 394"/>
          <p:cNvCxnSpPr/>
          <p:nvPr/>
        </p:nvCxnSpPr>
        <p:spPr>
          <a:xfrm>
            <a:off x="16198596" y="3264408"/>
            <a:ext cx="1" cy="274320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395" name="连接线 395"/>
          <p:cNvCxnSpPr/>
          <p:nvPr/>
        </p:nvCxnSpPr>
        <p:spPr>
          <a:xfrm flipV="1">
            <a:off x="3300984" y="4910328"/>
            <a:ext cx="1" cy="109728"/>
          </a:xfrm>
          <a:prstGeom prst="line">
            <a:avLst/>
          </a:prstGeom>
          <a:ln w="10160">
            <a:solidFill>
              <a:srgbClr val="986344"/>
            </a:solidFill>
            <a:prstDash val="dash"/>
          </a:ln>
        </p:spPr>
      </p:cxnSp>
      <p:cxnSp>
        <p:nvCxnSpPr>
          <p:cNvPr id="396" name="连接线 396"/>
          <p:cNvCxnSpPr/>
          <p:nvPr/>
        </p:nvCxnSpPr>
        <p:spPr>
          <a:xfrm flipV="1">
            <a:off x="6044184" y="4910328"/>
            <a:ext cx="1" cy="109728"/>
          </a:xfrm>
          <a:prstGeom prst="line">
            <a:avLst/>
          </a:prstGeom>
          <a:ln w="10160">
            <a:solidFill>
              <a:srgbClr val="986344"/>
            </a:solidFill>
            <a:prstDash val="dash"/>
          </a:ln>
        </p:spPr>
      </p:cxnSp>
      <p:cxnSp>
        <p:nvCxnSpPr>
          <p:cNvPr id="397" name="连接线 397"/>
          <p:cNvCxnSpPr/>
          <p:nvPr/>
        </p:nvCxnSpPr>
        <p:spPr>
          <a:xfrm flipV="1">
            <a:off x="9747504" y="4910328"/>
            <a:ext cx="1" cy="109728"/>
          </a:xfrm>
          <a:prstGeom prst="line">
            <a:avLst/>
          </a:prstGeom>
          <a:ln w="10160">
            <a:solidFill>
              <a:srgbClr val="986344"/>
            </a:solidFill>
            <a:prstDash val="dash"/>
          </a:ln>
        </p:spPr>
      </p:cxnSp>
      <p:cxnSp>
        <p:nvCxnSpPr>
          <p:cNvPr id="398" name="连接线 398"/>
          <p:cNvCxnSpPr/>
          <p:nvPr/>
        </p:nvCxnSpPr>
        <p:spPr>
          <a:xfrm flipV="1">
            <a:off x="12444984" y="4910328"/>
            <a:ext cx="1" cy="109728"/>
          </a:xfrm>
          <a:prstGeom prst="line">
            <a:avLst/>
          </a:prstGeom>
          <a:ln w="10160">
            <a:solidFill>
              <a:srgbClr val="986344"/>
            </a:solidFill>
            <a:prstDash val="dash"/>
          </a:ln>
        </p:spPr>
      </p:cxnSp>
      <p:cxnSp>
        <p:nvCxnSpPr>
          <p:cNvPr id="399" name="连接线 399"/>
          <p:cNvCxnSpPr/>
          <p:nvPr/>
        </p:nvCxnSpPr>
        <p:spPr>
          <a:xfrm>
            <a:off x="3300984" y="4910328"/>
            <a:ext cx="12897612" cy="1"/>
          </a:xfrm>
          <a:prstGeom prst="line">
            <a:avLst/>
          </a:prstGeom>
          <a:ln w="10795">
            <a:solidFill>
              <a:srgbClr val="986344"/>
            </a:solidFill>
            <a:prstDash val="dash"/>
          </a:ln>
        </p:spPr>
      </p:cxnSp>
      <p:sp>
        <p:nvSpPr>
          <p:cNvPr id="400" name="20步门控时间平均"/>
          <p:cNvSpPr/>
          <p:nvPr/>
        </p:nvSpPr>
        <p:spPr>
          <a:xfrm>
            <a:off x="14977872" y="5404104"/>
            <a:ext cx="2441448" cy="1033272"/>
          </a:xfrm>
          <a:prstGeom prst="rect">
            <a:avLst/>
          </a:prstGeom>
          <a:solidFill>
            <a:srgbClr val="FAF2E9"/>
          </a:solidFill>
          <a:ln w="11430">
            <a:solidFill>
              <a:srgbClr val="986344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20步门控时间平均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Aⱼ = (1/20) Σₖ₌₁²⁰ aₖ,ⱼ</a:t>
            </a:r>
            <a:endParaRPr lang="zh-CN" sz="1200"/>
          </a:p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12项平均门控值</a:t>
            </a:r>
            <a:endParaRPr lang="zh-CN" sz="1200"/>
          </a:p>
        </p:txBody>
      </p:sp>
      <p:cxnSp>
        <p:nvCxnSpPr>
          <p:cNvPr id="401" name="连接线 401"/>
          <p:cNvCxnSpPr/>
          <p:nvPr/>
        </p:nvCxnSpPr>
        <p:spPr>
          <a:xfrm>
            <a:off x="16198596" y="4910328"/>
            <a:ext cx="1" cy="493776"/>
          </a:xfrm>
          <a:prstGeom prst="line">
            <a:avLst/>
          </a:prstGeom>
          <a:ln w="11430">
            <a:solidFill>
              <a:srgbClr val="986344"/>
            </a:solidFill>
            <a:prstDash val="dash"/>
            <a:tailEnd type="triangle" w="sm" len="sm"/>
          </a:ln>
        </p:spPr>
      </p:cxnSp>
      <p:sp>
        <p:nvSpPr>
          <p:cNvPr id="402" name="解释分支：汇总 a₁,…,a₂₀"/>
          <p:cNvSpPr/>
          <p:nvPr/>
        </p:nvSpPr>
        <p:spPr>
          <a:xfrm>
            <a:off x="14977872" y="4572000"/>
            <a:ext cx="2441448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986344"/>
                </a:solidFill>
                <a:latin typeface="Cambria Math"/>
                <a:ea typeface="宋体"/>
                <a:cs typeface="Times New Roman"/>
              </a:rPr>
              <a:t>解释分支：汇总 a₁,…,a₂₀</a:t>
            </a:r>
            <a:endParaRPr lang="zh-CN" sz="1000"/>
          </a:p>
        </p:txBody>
      </p:sp>
      <p:sp>
        <p:nvSpPr>
          <p:cNvPr id="403" name="门控权重表示输入保留程度"/>
          <p:cNvSpPr/>
          <p:nvPr/>
        </p:nvSpPr>
        <p:spPr>
          <a:xfrm>
            <a:off x="14977872" y="6629400"/>
            <a:ext cx="2441448" cy="210312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门控权重表示输入保留程度</a:t>
            </a:r>
            <a:endParaRPr lang="zh-CN" sz="1000"/>
          </a:p>
        </p:txBody>
      </p:sp>
      <p:sp>
        <p:nvSpPr>
          <p:cNvPr id="404" name="形状 404"/>
          <p:cNvSpPr/>
          <p:nvPr/>
        </p:nvSpPr>
        <p:spPr>
          <a:xfrm>
            <a:off x="502920" y="7269480"/>
            <a:ext cx="17282160" cy="2624328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DD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/>
            </a:r>
            <a:endParaRPr lang="zh-CN" sz="1400"/>
          </a:p>
        </p:txBody>
      </p:sp>
      <p:sp>
        <p:nvSpPr>
          <p:cNvPr id="405" name="(b) LSTM单元内部：展开橙框单元，显示遗忘、写入与输出对记忆状态的控制"/>
          <p:cNvSpPr/>
          <p:nvPr/>
        </p:nvSpPr>
        <p:spPr>
          <a:xfrm>
            <a:off x="667512" y="7360920"/>
            <a:ext cx="16952976" cy="31089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600" b="1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(b) LSTM单元内部：展开橙框单元，显示遗忘、写入与输出对记忆状态的控制</a:t>
            </a:r>
            <a:endParaRPr lang="zh-CN" sz="1600"/>
          </a:p>
        </p:txBody>
      </p:sp>
      <p:cxnSp>
        <p:nvCxnSpPr>
          <p:cNvPr id="406" name="连接线 406"/>
          <p:cNvCxnSpPr/>
          <p:nvPr/>
        </p:nvCxnSpPr>
        <p:spPr>
          <a:xfrm>
            <a:off x="667512" y="7754112"/>
            <a:ext cx="16952976" cy="1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407" name="cₖ₋₁"/>
          <p:cNvSpPr/>
          <p:nvPr/>
        </p:nvSpPr>
        <p:spPr>
          <a:xfrm>
            <a:off x="731520" y="7991856"/>
            <a:ext cx="923544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cₖ₋₁</a:t>
            </a:r>
            <a:endParaRPr lang="zh-CN" sz="1400"/>
          </a:p>
        </p:txBody>
      </p:sp>
      <p:cxnSp>
        <p:nvCxnSpPr>
          <p:cNvPr id="408" name="连接线 408"/>
          <p:cNvCxnSpPr/>
          <p:nvPr/>
        </p:nvCxnSpPr>
        <p:spPr>
          <a:xfrm>
            <a:off x="1636776" y="8147304"/>
            <a:ext cx="1440180" cy="1"/>
          </a:xfrm>
          <a:prstGeom prst="line">
            <a:avLst/>
          </a:prstGeom>
          <a:ln w="20955">
            <a:solidFill>
              <a:srgbClr val="39766C"/>
            </a:solidFill>
            <a:tailEnd type="triangle" w="sm" len="sm"/>
          </a:ln>
        </p:spPr>
      </p:cxnSp>
      <p:sp>
        <p:nvSpPr>
          <p:cNvPr id="409" name="⊙"/>
          <p:cNvSpPr/>
          <p:nvPr/>
        </p:nvSpPr>
        <p:spPr>
          <a:xfrm>
            <a:off x="3076956" y="7996428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410" name="连接线 410"/>
          <p:cNvCxnSpPr/>
          <p:nvPr/>
        </p:nvCxnSpPr>
        <p:spPr>
          <a:xfrm>
            <a:off x="3378708" y="8147304"/>
            <a:ext cx="2468880" cy="1"/>
          </a:xfrm>
          <a:prstGeom prst="line">
            <a:avLst/>
          </a:prstGeom>
          <a:ln w="20955">
            <a:solidFill>
              <a:srgbClr val="39766C"/>
            </a:solidFill>
            <a:tailEnd type="triangle" w="sm" len="sm"/>
          </a:ln>
        </p:spPr>
      </p:cxnSp>
      <p:sp>
        <p:nvSpPr>
          <p:cNvPr id="411" name="+"/>
          <p:cNvSpPr/>
          <p:nvPr/>
        </p:nvSpPr>
        <p:spPr>
          <a:xfrm>
            <a:off x="5847588" y="7996428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+</a:t>
            </a:r>
            <a:endParaRPr lang="zh-CN" sz="1400"/>
          </a:p>
        </p:txBody>
      </p:sp>
      <p:cxnSp>
        <p:nvCxnSpPr>
          <p:cNvPr id="412" name="连接线 412"/>
          <p:cNvCxnSpPr/>
          <p:nvPr/>
        </p:nvCxnSpPr>
        <p:spPr>
          <a:xfrm>
            <a:off x="6149340" y="8147304"/>
            <a:ext cx="4905756" cy="1"/>
          </a:xfrm>
          <a:prstGeom prst="line">
            <a:avLst/>
          </a:prstGeom>
          <a:ln w="20955">
            <a:solidFill>
              <a:srgbClr val="39766C"/>
            </a:solidFill>
            <a:tailEnd type="triangle" w="sm" len="sm"/>
          </a:ln>
        </p:spPr>
      </p:cxnSp>
      <p:sp>
        <p:nvSpPr>
          <p:cNvPr id="413" name="cₖ"/>
          <p:cNvSpPr/>
          <p:nvPr/>
        </p:nvSpPr>
        <p:spPr>
          <a:xfrm>
            <a:off x="11064240" y="7991856"/>
            <a:ext cx="475488" cy="24688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</a:t>
            </a:r>
            <a:endParaRPr lang="zh-CN" sz="1400"/>
          </a:p>
        </p:txBody>
      </p:sp>
      <p:sp>
        <p:nvSpPr>
          <p:cNvPr id="414" name="遗忘门"/>
          <p:cNvSpPr/>
          <p:nvPr/>
        </p:nvSpPr>
        <p:spPr>
          <a:xfrm>
            <a:off x="2788920" y="8833104"/>
            <a:ext cx="877824" cy="40233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遗忘门</a:t>
            </a:r>
            <a:endParaRPr lang="zh-CN" sz="1000"/>
          </a:p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σ</a:t>
            </a:r>
            <a:endParaRPr lang="zh-CN" sz="1000"/>
          </a:p>
        </p:txBody>
      </p:sp>
      <p:cxnSp>
        <p:nvCxnSpPr>
          <p:cNvPr id="415" name="连接线 415"/>
          <p:cNvCxnSpPr/>
          <p:nvPr/>
        </p:nvCxnSpPr>
        <p:spPr>
          <a:xfrm flipV="1">
            <a:off x="3227832" y="9235440"/>
            <a:ext cx="1" cy="356616"/>
          </a:xfrm>
          <a:prstGeom prst="line">
            <a:avLst/>
          </a:prstGeom>
          <a:ln w="11430">
            <a:solidFill>
              <a:srgbClr val="5C6974"/>
            </a:solidFill>
            <a:tailEnd type="triangle" w="sm" len="sm"/>
          </a:ln>
        </p:spPr>
      </p:cxnSp>
      <p:sp>
        <p:nvSpPr>
          <p:cNvPr id="416" name="fₖ"/>
          <p:cNvSpPr/>
          <p:nvPr/>
        </p:nvSpPr>
        <p:spPr>
          <a:xfrm>
            <a:off x="2935224" y="8577072"/>
            <a:ext cx="585216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fₖ</a:t>
            </a:r>
            <a:endParaRPr lang="zh-CN" sz="1100"/>
          </a:p>
        </p:txBody>
      </p:sp>
      <p:sp>
        <p:nvSpPr>
          <p:cNvPr id="417" name="输入门"/>
          <p:cNvSpPr/>
          <p:nvPr/>
        </p:nvSpPr>
        <p:spPr>
          <a:xfrm>
            <a:off x="4224528" y="8833104"/>
            <a:ext cx="877824" cy="40233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输入门</a:t>
            </a:r>
            <a:endParaRPr lang="zh-CN" sz="1000"/>
          </a:p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σ</a:t>
            </a:r>
            <a:endParaRPr lang="zh-CN" sz="1000"/>
          </a:p>
        </p:txBody>
      </p:sp>
      <p:cxnSp>
        <p:nvCxnSpPr>
          <p:cNvPr id="418" name="连接线 418"/>
          <p:cNvCxnSpPr/>
          <p:nvPr/>
        </p:nvCxnSpPr>
        <p:spPr>
          <a:xfrm flipV="1">
            <a:off x="4663440" y="9235440"/>
            <a:ext cx="1" cy="356616"/>
          </a:xfrm>
          <a:prstGeom prst="line">
            <a:avLst/>
          </a:prstGeom>
          <a:ln w="11430">
            <a:solidFill>
              <a:srgbClr val="5C6974"/>
            </a:solidFill>
            <a:tailEnd type="triangle" w="sm" len="sm"/>
          </a:ln>
        </p:spPr>
      </p:cxnSp>
      <p:sp>
        <p:nvSpPr>
          <p:cNvPr id="419" name="iₖ"/>
          <p:cNvSpPr/>
          <p:nvPr/>
        </p:nvSpPr>
        <p:spPr>
          <a:xfrm>
            <a:off x="4370832" y="8577072"/>
            <a:ext cx="585216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iₖ</a:t>
            </a:r>
            <a:endParaRPr lang="zh-CN" sz="1100"/>
          </a:p>
        </p:txBody>
      </p:sp>
      <p:sp>
        <p:nvSpPr>
          <p:cNvPr id="420" name="候选记忆"/>
          <p:cNvSpPr/>
          <p:nvPr/>
        </p:nvSpPr>
        <p:spPr>
          <a:xfrm>
            <a:off x="5577840" y="8833104"/>
            <a:ext cx="941832" cy="402336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候选记忆</a:t>
            </a:r>
            <a:endParaRPr lang="zh-CN" sz="1000"/>
          </a:p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tanh</a:t>
            </a:r>
            <a:endParaRPr lang="zh-CN" sz="1000"/>
          </a:p>
        </p:txBody>
      </p:sp>
      <p:cxnSp>
        <p:nvCxnSpPr>
          <p:cNvPr id="421" name="连接线 421"/>
          <p:cNvCxnSpPr/>
          <p:nvPr/>
        </p:nvCxnSpPr>
        <p:spPr>
          <a:xfrm flipV="1">
            <a:off x="6048756" y="9235440"/>
            <a:ext cx="1" cy="356616"/>
          </a:xfrm>
          <a:prstGeom prst="line">
            <a:avLst/>
          </a:prstGeom>
          <a:ln w="11430">
            <a:solidFill>
              <a:srgbClr val="5C6974"/>
            </a:solidFill>
            <a:tailEnd type="triangle" w="sm" len="sm"/>
          </a:ln>
        </p:spPr>
      </p:cxnSp>
      <p:sp>
        <p:nvSpPr>
          <p:cNvPr id="422" name="gₖ"/>
          <p:cNvSpPr/>
          <p:nvPr/>
        </p:nvSpPr>
        <p:spPr>
          <a:xfrm>
            <a:off x="5724144" y="8577072"/>
            <a:ext cx="649224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gₖ</a:t>
            </a:r>
            <a:endParaRPr lang="zh-CN" sz="1100"/>
          </a:p>
        </p:txBody>
      </p:sp>
      <p:sp>
        <p:nvSpPr>
          <p:cNvPr id="423" name="输出门"/>
          <p:cNvSpPr/>
          <p:nvPr/>
        </p:nvSpPr>
        <p:spPr>
          <a:xfrm>
            <a:off x="7680960" y="8833104"/>
            <a:ext cx="941832" cy="402336"/>
          </a:xfrm>
          <a:prstGeom prst="rect">
            <a:avLst/>
          </a:prstGeom>
          <a:solidFill>
            <a:srgbClr val="EDF4F8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输出门</a:t>
            </a:r>
            <a:endParaRPr lang="zh-CN" sz="1000"/>
          </a:p>
          <a:p>
            <a:pPr algn="ctr">
              <a:lnSpc>
                <a:spcPct val="105000"/>
              </a:lnSpc>
            </a:pPr>
            <a:r>
              <a:rPr lang="zh-CN" sz="10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σ</a:t>
            </a:r>
            <a:endParaRPr lang="zh-CN" sz="1000"/>
          </a:p>
        </p:txBody>
      </p:sp>
      <p:cxnSp>
        <p:nvCxnSpPr>
          <p:cNvPr id="424" name="连接线 424"/>
          <p:cNvCxnSpPr/>
          <p:nvPr/>
        </p:nvCxnSpPr>
        <p:spPr>
          <a:xfrm flipV="1">
            <a:off x="8151876" y="9235440"/>
            <a:ext cx="1" cy="356616"/>
          </a:xfrm>
          <a:prstGeom prst="line">
            <a:avLst/>
          </a:prstGeom>
          <a:ln w="11430">
            <a:solidFill>
              <a:srgbClr val="5C6974"/>
            </a:solidFill>
            <a:tailEnd type="triangle" w="sm" len="sm"/>
          </a:ln>
        </p:spPr>
      </p:cxnSp>
      <p:sp>
        <p:nvSpPr>
          <p:cNvPr id="425" name="oₖ"/>
          <p:cNvSpPr/>
          <p:nvPr/>
        </p:nvSpPr>
        <p:spPr>
          <a:xfrm>
            <a:off x="7827264" y="8577072"/>
            <a:ext cx="649224" cy="19202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oₖ</a:t>
            </a:r>
            <a:endParaRPr lang="zh-CN" sz="1100"/>
          </a:p>
        </p:txBody>
      </p:sp>
      <p:cxnSp>
        <p:nvCxnSpPr>
          <p:cNvPr id="426" name="连接线 426"/>
          <p:cNvCxnSpPr/>
          <p:nvPr/>
        </p:nvCxnSpPr>
        <p:spPr>
          <a:xfrm flipV="1">
            <a:off x="3227832" y="8298180"/>
            <a:ext cx="1" cy="534924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427" name="⊙"/>
          <p:cNvSpPr/>
          <p:nvPr/>
        </p:nvSpPr>
        <p:spPr>
          <a:xfrm>
            <a:off x="5253228" y="8417052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428" name="连接线 428"/>
          <p:cNvCxnSpPr/>
          <p:nvPr/>
        </p:nvCxnSpPr>
        <p:spPr>
          <a:xfrm flipV="1">
            <a:off x="4663440" y="8567928"/>
            <a:ext cx="1" cy="265176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429" name="连接线 429"/>
          <p:cNvCxnSpPr/>
          <p:nvPr/>
        </p:nvCxnSpPr>
        <p:spPr>
          <a:xfrm>
            <a:off x="4663440" y="8567928"/>
            <a:ext cx="589788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430" name="连接线 430"/>
          <p:cNvCxnSpPr/>
          <p:nvPr/>
        </p:nvCxnSpPr>
        <p:spPr>
          <a:xfrm flipV="1">
            <a:off x="6048756" y="8567928"/>
            <a:ext cx="1" cy="265176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431" name="连接线 431"/>
          <p:cNvCxnSpPr/>
          <p:nvPr/>
        </p:nvCxnSpPr>
        <p:spPr>
          <a:xfrm flipH="1">
            <a:off x="5554980" y="8567928"/>
            <a:ext cx="493776" cy="1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432" name="连接线 432"/>
          <p:cNvCxnSpPr/>
          <p:nvPr/>
        </p:nvCxnSpPr>
        <p:spPr>
          <a:xfrm flipV="1">
            <a:off x="5404104" y="8321040"/>
            <a:ext cx="1" cy="96012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433" name="连接线 433"/>
          <p:cNvCxnSpPr/>
          <p:nvPr/>
        </p:nvCxnSpPr>
        <p:spPr>
          <a:xfrm>
            <a:off x="5404104" y="8321040"/>
            <a:ext cx="594360" cy="1"/>
          </a:xfrm>
          <a:prstGeom prst="line">
            <a:avLst/>
          </a:prstGeom>
          <a:ln w="15240">
            <a:solidFill>
              <a:srgbClr val="39766C"/>
            </a:solidFill>
          </a:ln>
        </p:spPr>
      </p:cxnSp>
      <p:cxnSp>
        <p:nvCxnSpPr>
          <p:cNvPr id="434" name="连接线 434"/>
          <p:cNvCxnSpPr/>
          <p:nvPr/>
        </p:nvCxnSpPr>
        <p:spPr>
          <a:xfrm flipV="1">
            <a:off x="5998464" y="8298180"/>
            <a:ext cx="1" cy="22860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435" name="tanh"/>
          <p:cNvSpPr/>
          <p:nvPr/>
        </p:nvSpPr>
        <p:spPr>
          <a:xfrm>
            <a:off x="9061704" y="8366760"/>
            <a:ext cx="612648" cy="292608"/>
          </a:xfrm>
          <a:prstGeom prst="rect">
            <a:avLst/>
          </a:prstGeom>
          <a:solidFill>
            <a:srgbClr val="EDF5F1"/>
          </a:solidFill>
          <a:ln w="11430">
            <a:solidFill>
              <a:srgbClr val="39766C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tanh</a:t>
            </a:r>
            <a:endParaRPr lang="zh-CN" sz="1200"/>
          </a:p>
        </p:txBody>
      </p:sp>
      <p:cxnSp>
        <p:nvCxnSpPr>
          <p:cNvPr id="436" name="连接线 436"/>
          <p:cNvCxnSpPr/>
          <p:nvPr/>
        </p:nvCxnSpPr>
        <p:spPr>
          <a:xfrm>
            <a:off x="9368028" y="8147304"/>
            <a:ext cx="1" cy="219456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sp>
        <p:nvSpPr>
          <p:cNvPr id="437" name="⊙"/>
          <p:cNvSpPr/>
          <p:nvPr/>
        </p:nvSpPr>
        <p:spPr>
          <a:xfrm>
            <a:off x="9217152" y="8855964"/>
            <a:ext cx="301752" cy="301752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15F82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⊙</a:t>
            </a:r>
            <a:endParaRPr lang="zh-CN" sz="1400"/>
          </a:p>
        </p:txBody>
      </p:sp>
      <p:cxnSp>
        <p:nvCxnSpPr>
          <p:cNvPr id="438" name="连接线 438"/>
          <p:cNvCxnSpPr/>
          <p:nvPr/>
        </p:nvCxnSpPr>
        <p:spPr>
          <a:xfrm>
            <a:off x="9368028" y="8659368"/>
            <a:ext cx="1" cy="196596"/>
          </a:xfrm>
          <a:prstGeom prst="line">
            <a:avLst/>
          </a:prstGeom>
          <a:ln w="15240">
            <a:solidFill>
              <a:srgbClr val="39766C"/>
            </a:solidFill>
            <a:tailEnd type="triangle" w="sm" len="sm"/>
          </a:ln>
        </p:spPr>
      </p:cxnSp>
      <p:cxnSp>
        <p:nvCxnSpPr>
          <p:cNvPr id="439" name="连接线 439"/>
          <p:cNvCxnSpPr/>
          <p:nvPr/>
        </p:nvCxnSpPr>
        <p:spPr>
          <a:xfrm>
            <a:off x="8622792" y="9034272"/>
            <a:ext cx="329184" cy="1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440" name="连接线 440"/>
          <p:cNvCxnSpPr/>
          <p:nvPr/>
        </p:nvCxnSpPr>
        <p:spPr>
          <a:xfrm flipV="1">
            <a:off x="8951976" y="9006840"/>
            <a:ext cx="1" cy="27432"/>
          </a:xfrm>
          <a:prstGeom prst="line">
            <a:avLst/>
          </a:prstGeom>
          <a:ln w="15240">
            <a:solidFill>
              <a:srgbClr val="315F82"/>
            </a:solidFill>
          </a:ln>
        </p:spPr>
      </p:cxnSp>
      <p:cxnSp>
        <p:nvCxnSpPr>
          <p:cNvPr id="441" name="连接线 441"/>
          <p:cNvCxnSpPr/>
          <p:nvPr/>
        </p:nvCxnSpPr>
        <p:spPr>
          <a:xfrm>
            <a:off x="8951976" y="9006840"/>
            <a:ext cx="265176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cxnSp>
        <p:nvCxnSpPr>
          <p:cNvPr id="442" name="连接线 442"/>
          <p:cNvCxnSpPr/>
          <p:nvPr/>
        </p:nvCxnSpPr>
        <p:spPr>
          <a:xfrm>
            <a:off x="9518904" y="9006840"/>
            <a:ext cx="1536192" cy="1"/>
          </a:xfrm>
          <a:prstGeom prst="line">
            <a:avLst/>
          </a:prstGeom>
          <a:ln w="15240">
            <a:solidFill>
              <a:srgbClr val="315F82"/>
            </a:solidFill>
            <a:tailEnd type="triangle" w="sm" len="sm"/>
          </a:ln>
        </p:spPr>
      </p:cxnSp>
      <p:sp>
        <p:nvSpPr>
          <p:cNvPr id="443" name="hₖ"/>
          <p:cNvSpPr/>
          <p:nvPr/>
        </p:nvSpPr>
        <p:spPr>
          <a:xfrm>
            <a:off x="11064240" y="8842248"/>
            <a:ext cx="475488" cy="24688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4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</a:t>
            </a:r>
            <a:endParaRPr lang="zh-CN" sz="1400"/>
          </a:p>
        </p:txBody>
      </p:sp>
      <p:sp>
        <p:nvSpPr>
          <p:cNvPr id="444" name="hₖ₋₁, ξₖ"/>
          <p:cNvSpPr/>
          <p:nvPr/>
        </p:nvSpPr>
        <p:spPr>
          <a:xfrm>
            <a:off x="731520" y="9418320"/>
            <a:ext cx="914400" cy="219456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2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hₖ₋₁, ξₖ</a:t>
            </a:r>
            <a:endParaRPr lang="zh-CN" sz="1200"/>
          </a:p>
        </p:txBody>
      </p:sp>
      <p:sp>
        <p:nvSpPr>
          <p:cNvPr id="445" name="拼接 uₖ"/>
          <p:cNvSpPr/>
          <p:nvPr/>
        </p:nvSpPr>
        <p:spPr>
          <a:xfrm>
            <a:off x="1764792" y="9345168"/>
            <a:ext cx="960120" cy="411480"/>
          </a:xfrm>
          <a:prstGeom prst="rect">
            <a:avLst/>
          </a:prstGeom>
          <a:solidFill>
            <a:srgbClr val="F6F8FA"/>
          </a:solidFill>
          <a:ln w="11430">
            <a:solidFill>
              <a:srgbClr val="667785"/>
            </a:solidFill>
          </a:ln>
        </p:spPr>
        <p:txBody>
          <a:bodyPr wrap="square" anchor="ctr" lIns="64008" rIns="64008" tIns="22860" bIns="2286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zh-CN" sz="1100" b="0" i="0">
                <a:solidFill>
                  <a:srgbClr val="23323D"/>
                </a:solidFill>
                <a:latin typeface="Times New Roman"/>
                <a:ea typeface="宋体"/>
                <a:cs typeface="Times New Roman"/>
              </a:rPr>
              <a:t>拼接 uₖ</a:t>
            </a:r>
            <a:endParaRPr lang="zh-CN" sz="1100"/>
          </a:p>
        </p:txBody>
      </p:sp>
      <p:cxnSp>
        <p:nvCxnSpPr>
          <p:cNvPr id="446" name="连接线 446"/>
          <p:cNvCxnSpPr/>
          <p:nvPr/>
        </p:nvCxnSpPr>
        <p:spPr>
          <a:xfrm>
            <a:off x="1481328" y="9550908"/>
            <a:ext cx="283464" cy="1"/>
          </a:xfrm>
          <a:prstGeom prst="line">
            <a:avLst/>
          </a:prstGeom>
          <a:ln w="15240">
            <a:solidFill>
              <a:srgbClr val="5C6974"/>
            </a:solidFill>
            <a:tailEnd type="triangle" w="sm" len="sm"/>
          </a:ln>
        </p:spPr>
      </p:cxnSp>
      <p:cxnSp>
        <p:nvCxnSpPr>
          <p:cNvPr id="447" name="连接线 447"/>
          <p:cNvCxnSpPr/>
          <p:nvPr/>
        </p:nvCxnSpPr>
        <p:spPr>
          <a:xfrm>
            <a:off x="2724912" y="9550908"/>
            <a:ext cx="5426964" cy="1"/>
          </a:xfrm>
          <a:prstGeom prst="line">
            <a:avLst/>
          </a:prstGeom>
          <a:ln w="12700">
            <a:solidFill>
              <a:srgbClr val="667785"/>
            </a:solidFill>
          </a:ln>
        </p:spPr>
      </p:cxnSp>
      <p:cxnSp>
        <p:nvCxnSpPr>
          <p:cNvPr id="448" name="连接线 448"/>
          <p:cNvCxnSpPr/>
          <p:nvPr/>
        </p:nvCxnSpPr>
        <p:spPr>
          <a:xfrm>
            <a:off x="11859768" y="7827264"/>
            <a:ext cx="1" cy="1892808"/>
          </a:xfrm>
          <a:prstGeom prst="line">
            <a:avLst/>
          </a:prstGeom>
          <a:ln w="8890">
            <a:solidFill>
              <a:srgbClr val="CDD6DD"/>
            </a:solidFill>
          </a:ln>
        </p:spPr>
      </p:cxnSp>
      <p:sp>
        <p:nvSpPr>
          <p:cNvPr id="449" name="fₖ = σ(Wf uₖ + bf)"/>
          <p:cNvSpPr/>
          <p:nvPr/>
        </p:nvSpPr>
        <p:spPr>
          <a:xfrm>
            <a:off x="12097512" y="782726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fₖ = σ(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 uₖ + 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b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f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)</a:t>
            </a:r>
            <a:endParaRPr lang="zh-CN" sz="1300"/>
          </a:p>
        </p:txBody>
      </p:sp>
      <p:sp>
        <p:nvSpPr>
          <p:cNvPr id="450" name="iₖ = σ(Wi uₖ + bi)"/>
          <p:cNvSpPr/>
          <p:nvPr/>
        </p:nvSpPr>
        <p:spPr>
          <a:xfrm>
            <a:off x="12097512" y="810158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iₖ = σ(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 uₖ + 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b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i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)</a:t>
            </a:r>
            <a:endParaRPr lang="zh-CN" sz="1300"/>
          </a:p>
        </p:txBody>
      </p:sp>
      <p:sp>
        <p:nvSpPr>
          <p:cNvPr id="451" name="gₖ = tanh(Wg uₖ + bg)"/>
          <p:cNvSpPr/>
          <p:nvPr/>
        </p:nvSpPr>
        <p:spPr>
          <a:xfrm>
            <a:off x="12097512" y="837590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gₖ = tanh(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 uₖ + 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b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g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)</a:t>
            </a:r>
            <a:endParaRPr lang="zh-CN" sz="1300"/>
          </a:p>
        </p:txBody>
      </p:sp>
      <p:sp>
        <p:nvSpPr>
          <p:cNvPr id="452" name="oₖ = σ(Wo uₖ + bo)"/>
          <p:cNvSpPr/>
          <p:nvPr/>
        </p:nvSpPr>
        <p:spPr>
          <a:xfrm>
            <a:off x="12097512" y="865022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oₖ = σ(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W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 uₖ + 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b</a:t>
            </a:r>
            <a:r>
              <a:rPr lang="zh-CN" sz="1040" b="0" i="0" baseline="-2500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o</a:t>
            </a: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)</a:t>
            </a:r>
            <a:endParaRPr lang="zh-CN" sz="1300"/>
          </a:p>
        </p:txBody>
      </p:sp>
      <p:sp>
        <p:nvSpPr>
          <p:cNvPr id="453" name="cₖ = fₖ ⊙ cₖ₋₁ + iₖ ⊙ gₖ"/>
          <p:cNvSpPr/>
          <p:nvPr/>
        </p:nvSpPr>
        <p:spPr>
          <a:xfrm>
            <a:off x="12097512" y="892454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cₖ = fₖ ⊙ cₖ₋₁ + iₖ ⊙ gₖ</a:t>
            </a:r>
            <a:endParaRPr lang="zh-CN" sz="1300"/>
          </a:p>
        </p:txBody>
      </p:sp>
      <p:sp>
        <p:nvSpPr>
          <p:cNvPr id="454" name="hₖ = oₖ ⊙ tanh(cₖ)"/>
          <p:cNvSpPr/>
          <p:nvPr/>
        </p:nvSpPr>
        <p:spPr>
          <a:xfrm>
            <a:off x="12097512" y="9198864"/>
            <a:ext cx="5294376" cy="237744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300" b="0" i="0">
                <a:solidFill>
                  <a:srgbClr val="23323D"/>
                </a:solidFill>
                <a:latin typeface="Cambria Math"/>
                <a:ea typeface="宋体"/>
                <a:cs typeface="Times New Roman"/>
              </a:rPr>
              <a:t>hₖ = oₖ ⊙ tanh(cₖ)</a:t>
            </a:r>
            <a:endParaRPr lang="zh-CN" sz="1300"/>
          </a:p>
        </p:txBody>
      </p:sp>
      <p:sp>
        <p:nvSpPr>
          <p:cNvPr id="455" name="ξₖ = xₖʷ（第1层）；第2层接收第1层输出"/>
          <p:cNvSpPr/>
          <p:nvPr/>
        </p:nvSpPr>
        <p:spPr>
          <a:xfrm>
            <a:off x="12097512" y="9518904"/>
            <a:ext cx="5294376" cy="228600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Cambria Math"/>
                <a:ea typeface="宋体"/>
                <a:cs typeface="Times New Roman"/>
              </a:rPr>
              <a:t>ξₖ = xₖʷ（第1层）；第2层接收第1层输出</a:t>
            </a:r>
            <a:endParaRPr lang="zh-CN" sz="1000"/>
          </a:p>
        </p:txBody>
      </p:sp>
      <p:sp>
        <p:nvSpPr>
          <p:cNvPr id="456" name="所有时间步共享同一特征门控网络；两层LSTM参数分别学习。矩阵着色为结构示意，全"/>
          <p:cNvSpPr/>
          <p:nvPr/>
        </p:nvSpPr>
        <p:spPr>
          <a:xfrm>
            <a:off x="530352" y="10049256"/>
            <a:ext cx="17227296" cy="201168"/>
          </a:xfrm>
          <a:prstGeom prst="rect">
            <a:avLst/>
          </a:prstGeom>
          <a:noFill/>
          <a:ln w="11430">
            <a:noFill/>
          </a:ln>
        </p:spPr>
        <p:txBody>
          <a:bodyPr wrap="square" anchor="ctr" lIns="64008" rIns="64008" tIns="22860" bIns="2286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sz="1000" b="0" i="0">
                <a:solidFill>
                  <a:srgbClr val="5C6974"/>
                </a:solidFill>
                <a:latin typeface="Times New Roman"/>
                <a:ea typeface="宋体"/>
                <a:cs typeface="Times New Roman"/>
              </a:rPr>
              <a:t>所有时间步共享同一特征门控网络；两层LSTM参数分别学习。矩阵着色为结构示意，全部元素可编辑。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23323D"/>
      </a:dk1>
      <a:lt1>
        <a:srgbClr val="FFFFFF"/>
      </a:lt1>
      <a:dk2>
        <a:srgbClr val="5C6974"/>
      </a:dk2>
      <a:lt2>
        <a:srgbClr val="F6F8FA"/>
      </a:lt2>
      <a:accent1>
        <a:srgbClr val="315F82"/>
      </a:accent1>
      <a:accent2>
        <a:srgbClr val="39766C"/>
      </a:accent2>
      <a:accent3>
        <a:srgbClr val="986344"/>
      </a:accent3>
      <a:accent4>
        <a:srgbClr val="8197A8"/>
      </a:accent4>
      <a:accent5>
        <a:srgbClr val="9CAFA3"/>
      </a:accent5>
      <a:accent6>
        <a:srgbClr val="BBA78D"/>
      </a:accent6>
      <a:hlink>
        <a:srgbClr val="315F82"/>
      </a:hlink>
      <a:folHlink>
        <a:srgbClr val="986344"/>
      </a:folHlink>
    </a:clrScheme>
    <a:fontScheme name="Academic">
      <a:majorFont>
        <a:latin typeface="Times New Roman"/>
        <a:ea typeface="宋体"/>
        <a:cs typeface="Times New Roman"/>
      </a:majorFont>
      <a:minorFont>
        <a:latin typeface="Times New Roman"/>
        <a:ea typeface="宋体"/>
        <a:cs typeface="Times New Roman"/>
      </a:minorFont>
    </a:fontScheme>
    <a:fmtScheme name="Academ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Editable Scientific Diagram</ns0:Application>
  <ns0:Slides>1</ns0:Slides>
  <ns0:PresentationFormat>Custom 16:9</ns0:PresentationFormat>
</ns0:Properties>
</file>

<file path=docProps/core.xml><?xml version="1.0" encoding="utf-8"?>
<cp:coreProperties xmlns:cp="http://schemas.openxmlformats.org/package/2006/metadata/core-properties" xmlns:dc="http://purl.org/dc/elements/1.1/">
  <dc:title>Attention-LSTM空中核心模型技术图</dc:title>
  <dc:creator>INTENTRA-X</dc:creator>
  <dc:description>Native editable shapes, text and connectors; verified against the 12-feature model.</dc:description>
</cp:coreProperties>
</file>